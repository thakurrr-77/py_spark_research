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4"/>
  </p:sldMasterIdLst>
  <p:notesMasterIdLst>
    <p:notesMasterId r:id="rId17"/>
  </p:notesMasterIdLst>
  <p:handoutMasterIdLst>
    <p:handoutMasterId r:id="rId18"/>
  </p:handoutMasterIdLst>
  <p:sldIdLst>
    <p:sldId id="256" r:id="rId5"/>
    <p:sldId id="257" r:id="rId6"/>
    <p:sldId id="270" r:id="rId7"/>
    <p:sldId id="269" r:id="rId8"/>
    <p:sldId id="271" r:id="rId9"/>
    <p:sldId id="272" r:id="rId10"/>
    <p:sldId id="274" r:id="rId11"/>
    <p:sldId id="275" r:id="rId12"/>
    <p:sldId id="278" r:id="rId13"/>
    <p:sldId id="276" r:id="rId14"/>
    <p:sldId id="277" r:id="rId15"/>
    <p:sldId id="268" r:id="rId16"/>
  </p:sldIdLst>
  <p:sldSz cx="9144000" cy="6858000" type="screen4x3"/>
  <p:notesSz cx="7559675" cy="106918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AB2E2"/>
    <a:srgbClr val="2A66AC"/>
    <a:srgbClr val="75A4DD"/>
    <a:srgbClr val="2E6CB8"/>
    <a:srgbClr val="2A65AC"/>
    <a:srgbClr val="255997"/>
    <a:srgbClr val="3379CD"/>
    <a:srgbClr val="558ED5"/>
    <a:srgbClr val="78A6DE"/>
    <a:srgbClr val="9DBEE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1515461-01CB-4249-83FC-EC5122A67DD8}" v="86" dt="2026-03-22T16:56:02.39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317"/>
    <p:restoredTop sz="94666"/>
  </p:normalViewPr>
  <p:slideViewPr>
    <p:cSldViewPr snapToGrid="0">
      <p:cViewPr varScale="1">
        <p:scale>
          <a:sx n="111" d="100"/>
          <a:sy n="111" d="100"/>
        </p:scale>
        <p:origin x="1404" y="78"/>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handoutMaster" Target="handoutMasters/handoutMaster1.xml"/><Relationship Id="rId3" Type="http://schemas.openxmlformats.org/officeDocument/2006/relationships/customXml" Target="../customXml/item3.xml"/><Relationship Id="rId21"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23" Type="http://schemas.microsoft.com/office/2015/10/relationships/revisionInfo" Target="revisionInfo.xml"/><Relationship Id="rId10" Type="http://schemas.openxmlformats.org/officeDocument/2006/relationships/slide" Target="slides/slide6.xml"/><Relationship Id="rId19"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EF607C9A-EDB5-4C0A-BCFE-81AAF6133E68}"/>
              </a:ext>
            </a:extLst>
          </p:cNvPr>
          <p:cNvSpPr>
            <a:spLocks noGrp="1"/>
          </p:cNvSpPr>
          <p:nvPr>
            <p:ph type="hdr" sz="quarter"/>
          </p:nvPr>
        </p:nvSpPr>
        <p:spPr>
          <a:xfrm>
            <a:off x="0" y="0"/>
            <a:ext cx="3276600" cy="536575"/>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54F00B0C-2831-4624-A5D3-43F42D30BA74}"/>
              </a:ext>
            </a:extLst>
          </p:cNvPr>
          <p:cNvSpPr>
            <a:spLocks noGrp="1"/>
          </p:cNvSpPr>
          <p:nvPr>
            <p:ph type="dt" sz="quarter" idx="1"/>
          </p:nvPr>
        </p:nvSpPr>
        <p:spPr>
          <a:xfrm>
            <a:off x="4281488" y="0"/>
            <a:ext cx="3276600" cy="536575"/>
          </a:xfrm>
          <a:prstGeom prst="rect">
            <a:avLst/>
          </a:prstGeom>
        </p:spPr>
        <p:txBody>
          <a:bodyPr vert="horz" lIns="91440" tIns="45720" rIns="91440" bIns="45720" rtlCol="0"/>
          <a:lstStyle>
            <a:lvl1pPr algn="r">
              <a:defRPr sz="1200"/>
            </a:lvl1pPr>
          </a:lstStyle>
          <a:p>
            <a:fld id="{25D2B5EB-424D-4C39-A8AB-65F1D7895EF3}" type="datetimeFigureOut">
              <a:rPr lang="en-US" smtClean="0"/>
              <a:pPr/>
              <a:t>5/21/2026</a:t>
            </a:fld>
            <a:endParaRPr lang="en-US"/>
          </a:p>
        </p:txBody>
      </p:sp>
      <p:sp>
        <p:nvSpPr>
          <p:cNvPr id="4" name="Footer Placeholder 3">
            <a:extLst>
              <a:ext uri="{FF2B5EF4-FFF2-40B4-BE49-F238E27FC236}">
                <a16:creationId xmlns:a16="http://schemas.microsoft.com/office/drawing/2014/main" id="{B334ABA9-0C2F-480A-B554-A457296C39B5}"/>
              </a:ext>
            </a:extLst>
          </p:cNvPr>
          <p:cNvSpPr>
            <a:spLocks noGrp="1"/>
          </p:cNvSpPr>
          <p:nvPr>
            <p:ph type="ftr" sz="quarter" idx="2"/>
          </p:nvPr>
        </p:nvSpPr>
        <p:spPr>
          <a:xfrm>
            <a:off x="0" y="10155238"/>
            <a:ext cx="3276600" cy="536575"/>
          </a:xfrm>
          <a:prstGeom prst="rect">
            <a:avLst/>
          </a:prstGeom>
        </p:spPr>
        <p:txBody>
          <a:bodyPr vert="horz" lIns="91440" tIns="45720" rIns="91440" bIns="45720" rtlCol="0" anchor="b"/>
          <a:lstStyle>
            <a:lvl1pPr algn="l">
              <a:defRPr sz="1200"/>
            </a:lvl1pPr>
          </a:lstStyle>
          <a:p>
            <a:r>
              <a:rPr lang="en-US"/>
              <a:t>Name of the faculty [Group: G00] [Sem:2nd]</a:t>
            </a:r>
          </a:p>
        </p:txBody>
      </p:sp>
      <p:sp>
        <p:nvSpPr>
          <p:cNvPr id="5" name="Slide Number Placeholder 4">
            <a:extLst>
              <a:ext uri="{FF2B5EF4-FFF2-40B4-BE49-F238E27FC236}">
                <a16:creationId xmlns:a16="http://schemas.microsoft.com/office/drawing/2014/main" id="{46F3BA01-5457-4975-8BF5-D0EAD49D534B}"/>
              </a:ext>
            </a:extLst>
          </p:cNvPr>
          <p:cNvSpPr>
            <a:spLocks noGrp="1"/>
          </p:cNvSpPr>
          <p:nvPr>
            <p:ph type="sldNum" sz="quarter" idx="3"/>
          </p:nvPr>
        </p:nvSpPr>
        <p:spPr>
          <a:xfrm>
            <a:off x="4281488" y="10155238"/>
            <a:ext cx="3276600" cy="536575"/>
          </a:xfrm>
          <a:prstGeom prst="rect">
            <a:avLst/>
          </a:prstGeom>
        </p:spPr>
        <p:txBody>
          <a:bodyPr vert="horz" lIns="91440" tIns="45720" rIns="91440" bIns="45720" rtlCol="0" anchor="b"/>
          <a:lstStyle>
            <a:lvl1pPr algn="r">
              <a:defRPr sz="1200"/>
            </a:lvl1pPr>
          </a:lstStyle>
          <a:p>
            <a:fld id="{E4199376-55CE-4213-A97D-9D70929AC508}" type="slidenum">
              <a:rPr lang="en-US" smtClean="0"/>
              <a:pPr/>
              <a:t>‹#›</a:t>
            </a:fld>
            <a:endParaRPr lang="en-US"/>
          </a:p>
        </p:txBody>
      </p:sp>
    </p:spTree>
    <p:extLst>
      <p:ext uri="{BB962C8B-B14F-4D97-AF65-F5344CB8AC3E}">
        <p14:creationId xmlns:p14="http://schemas.microsoft.com/office/powerpoint/2010/main" val="4123002274"/>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276600" cy="536575"/>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4281488" y="0"/>
            <a:ext cx="3276600" cy="536575"/>
          </a:xfrm>
          <a:prstGeom prst="rect">
            <a:avLst/>
          </a:prstGeom>
        </p:spPr>
        <p:txBody>
          <a:bodyPr vert="horz" lIns="91440" tIns="45720" rIns="91440" bIns="45720" rtlCol="0"/>
          <a:lstStyle>
            <a:lvl1pPr algn="r">
              <a:defRPr sz="1200"/>
            </a:lvl1pPr>
          </a:lstStyle>
          <a:p>
            <a:fld id="{888BC1CF-45D5-4DEE-AAB8-8C5341844FC9}" type="datetimeFigureOut">
              <a:rPr lang="en-US" smtClean="0"/>
              <a:pPr/>
              <a:t>5/21/2026</a:t>
            </a:fld>
            <a:endParaRPr lang="en-US"/>
          </a:p>
        </p:txBody>
      </p:sp>
      <p:sp>
        <p:nvSpPr>
          <p:cNvPr id="4" name="Slide Image Placeholder 3"/>
          <p:cNvSpPr>
            <a:spLocks noGrp="1" noRot="1" noChangeAspect="1"/>
          </p:cNvSpPr>
          <p:nvPr>
            <p:ph type="sldImg" idx="2"/>
          </p:nvPr>
        </p:nvSpPr>
        <p:spPr>
          <a:xfrm>
            <a:off x="1374775" y="1336675"/>
            <a:ext cx="4810125" cy="3608388"/>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755650" y="5145088"/>
            <a:ext cx="6048375" cy="42100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10155238"/>
            <a:ext cx="3276600" cy="536575"/>
          </a:xfrm>
          <a:prstGeom prst="rect">
            <a:avLst/>
          </a:prstGeom>
        </p:spPr>
        <p:txBody>
          <a:bodyPr vert="horz" lIns="91440" tIns="45720" rIns="91440" bIns="45720" rtlCol="0" anchor="b"/>
          <a:lstStyle>
            <a:lvl1pPr algn="l">
              <a:defRPr sz="1200"/>
            </a:lvl1pPr>
          </a:lstStyle>
          <a:p>
            <a:r>
              <a:rPr lang="en-US"/>
              <a:t>Name of the faculty [Group: G00] [Sem:2nd]</a:t>
            </a:r>
          </a:p>
        </p:txBody>
      </p:sp>
      <p:sp>
        <p:nvSpPr>
          <p:cNvPr id="7" name="Slide Number Placeholder 6"/>
          <p:cNvSpPr>
            <a:spLocks noGrp="1"/>
          </p:cNvSpPr>
          <p:nvPr>
            <p:ph type="sldNum" sz="quarter" idx="5"/>
          </p:nvPr>
        </p:nvSpPr>
        <p:spPr>
          <a:xfrm>
            <a:off x="4281488" y="10155238"/>
            <a:ext cx="3276600" cy="536575"/>
          </a:xfrm>
          <a:prstGeom prst="rect">
            <a:avLst/>
          </a:prstGeom>
        </p:spPr>
        <p:txBody>
          <a:bodyPr vert="horz" lIns="91440" tIns="45720" rIns="91440" bIns="45720" rtlCol="0" anchor="b"/>
          <a:lstStyle>
            <a:lvl1pPr algn="r">
              <a:defRPr sz="1200"/>
            </a:lvl1pPr>
          </a:lstStyle>
          <a:p>
            <a:fld id="{C5A7523A-12D4-4E0F-9409-B3F845B48333}" type="slidenum">
              <a:rPr lang="en-US" smtClean="0"/>
              <a:pPr/>
              <a:t>‹#›</a:t>
            </a:fld>
            <a:endParaRPr lang="en-US"/>
          </a:p>
        </p:txBody>
      </p:sp>
    </p:spTree>
    <p:extLst>
      <p:ext uri="{BB962C8B-B14F-4D97-AF65-F5344CB8AC3E}">
        <p14:creationId xmlns:p14="http://schemas.microsoft.com/office/powerpoint/2010/main" val="3458122221"/>
      </p:ext>
    </p:extLst>
  </p:cSld>
  <p:clrMap bg1="lt1" tx1="dk1" bg2="lt2" tx2="dk2" accent1="accent1" accent2="accent2" accent3="accent3" accent4="accent4" accent5="accent5" accent6="accent6" hlink="hlink" folHlink="folHlink"/>
  <p:hf hd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C5A7523A-12D4-4E0F-9409-B3F845B48333}" type="slidenum">
              <a:rPr lang="en-US" smtClean="0"/>
              <a:pPr/>
              <a:t>1</a:t>
            </a:fld>
            <a:endParaRPr lang="en-US"/>
          </a:p>
        </p:txBody>
      </p:sp>
      <p:sp>
        <p:nvSpPr>
          <p:cNvPr id="5" name="Footer Placeholder 4">
            <a:extLst>
              <a:ext uri="{FF2B5EF4-FFF2-40B4-BE49-F238E27FC236}">
                <a16:creationId xmlns:a16="http://schemas.microsoft.com/office/drawing/2014/main" id="{A599BB95-9755-4BC6-8051-C2B8CF54F2A1}"/>
              </a:ext>
            </a:extLst>
          </p:cNvPr>
          <p:cNvSpPr>
            <a:spLocks noGrp="1"/>
          </p:cNvSpPr>
          <p:nvPr>
            <p:ph type="ftr" sz="quarter" idx="4"/>
          </p:nvPr>
        </p:nvSpPr>
        <p:spPr/>
        <p:txBody>
          <a:bodyPr/>
          <a:lstStyle/>
          <a:p>
            <a:r>
              <a:rPr lang="en-US"/>
              <a:t>Name of the faculty [Group: G00] [Sem:2nd]</a:t>
            </a:r>
          </a:p>
        </p:txBody>
      </p:sp>
    </p:spTree>
    <p:extLst>
      <p:ext uri="{BB962C8B-B14F-4D97-AF65-F5344CB8AC3E}">
        <p14:creationId xmlns:p14="http://schemas.microsoft.com/office/powerpoint/2010/main" val="425487472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20"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21" name="PlaceHolder 2"/>
          <p:cNvSpPr>
            <a:spLocks noGrp="1"/>
          </p:cNvSpPr>
          <p:nvPr>
            <p:ph type="subTitle"/>
          </p:nvPr>
        </p:nvSpPr>
        <p:spPr>
          <a:xfrm>
            <a:off x="457200" y="1604520"/>
            <a:ext cx="8229240" cy="3977280"/>
          </a:xfrm>
          <a:prstGeom prst="rect">
            <a:avLst/>
          </a:prstGeom>
        </p:spPr>
        <p:txBody>
          <a:bodyPr lIns="0" tIns="0" rIns="0" bIns="0" anchor="ctr">
            <a:noAutofit/>
          </a:bodyPr>
          <a:lstStyle/>
          <a:p>
            <a:pPr algn="ctr"/>
            <a:endParaRPr lang="en-GB" sz="3200" b="0" strike="noStrike" spc="-1">
              <a:latin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22"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23" name="PlaceHolder 2"/>
          <p:cNvSpPr>
            <a:spLocks noGrp="1"/>
          </p:cNvSpPr>
          <p:nvPr>
            <p:ph type="body"/>
          </p:nvPr>
        </p:nvSpPr>
        <p:spPr>
          <a:xfrm>
            <a:off x="457200" y="1604520"/>
            <a:ext cx="8229240" cy="397728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24"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25" name="PlaceHolder 2"/>
          <p:cNvSpPr>
            <a:spLocks noGrp="1"/>
          </p:cNvSpPr>
          <p:nvPr>
            <p:ph type="body"/>
          </p:nvPr>
        </p:nvSpPr>
        <p:spPr>
          <a:xfrm>
            <a:off x="457200" y="1604520"/>
            <a:ext cx="4015800" cy="397728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26" name="PlaceHolder 3"/>
          <p:cNvSpPr>
            <a:spLocks noGrp="1"/>
          </p:cNvSpPr>
          <p:nvPr>
            <p:ph type="body"/>
          </p:nvPr>
        </p:nvSpPr>
        <p:spPr>
          <a:xfrm>
            <a:off x="4674240" y="1604520"/>
            <a:ext cx="4015800" cy="397728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7"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28" name="PlaceHolder 1"/>
          <p:cNvSpPr>
            <a:spLocks noGrp="1"/>
          </p:cNvSpPr>
          <p:nvPr>
            <p:ph type="subTitle"/>
          </p:nvPr>
        </p:nvSpPr>
        <p:spPr>
          <a:xfrm>
            <a:off x="0" y="0"/>
            <a:ext cx="5486040" cy="4238280"/>
          </a:xfrm>
          <a:prstGeom prst="rect">
            <a:avLst/>
          </a:prstGeom>
        </p:spPr>
        <p:txBody>
          <a:bodyPr lIns="0" tIns="0" rIns="0" bIns="0" anchor="ctr">
            <a:noAutofit/>
          </a:bodyPr>
          <a:lstStyle/>
          <a:p>
            <a:pPr algn="ctr"/>
            <a:endParaRPr lang="en-GB" sz="3200" b="0" strike="noStrike" spc="-1">
              <a:latin typeface="Aria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29"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30" name="PlaceHolder 2"/>
          <p:cNvSpPr>
            <a:spLocks noGrp="1"/>
          </p:cNvSpPr>
          <p:nvPr>
            <p:ph type="body"/>
          </p:nvPr>
        </p:nvSpPr>
        <p:spPr>
          <a:xfrm>
            <a:off x="45720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1" name="PlaceHolder 3"/>
          <p:cNvSpPr>
            <a:spLocks noGrp="1"/>
          </p:cNvSpPr>
          <p:nvPr>
            <p:ph type="body"/>
          </p:nvPr>
        </p:nvSpPr>
        <p:spPr>
          <a:xfrm>
            <a:off x="4674240" y="1604520"/>
            <a:ext cx="4015800" cy="397728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2" name="PlaceHolder 4"/>
          <p:cNvSpPr>
            <a:spLocks noGrp="1"/>
          </p:cNvSpPr>
          <p:nvPr>
            <p:ph type="body"/>
          </p:nvPr>
        </p:nvSpPr>
        <p:spPr>
          <a:xfrm>
            <a:off x="457200" y="368208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33"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34" name="PlaceHolder 2"/>
          <p:cNvSpPr>
            <a:spLocks noGrp="1"/>
          </p:cNvSpPr>
          <p:nvPr>
            <p:ph type="body"/>
          </p:nvPr>
        </p:nvSpPr>
        <p:spPr>
          <a:xfrm>
            <a:off x="457200" y="1604520"/>
            <a:ext cx="4015800" cy="397728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5" name="PlaceHolder 3"/>
          <p:cNvSpPr>
            <a:spLocks noGrp="1"/>
          </p:cNvSpPr>
          <p:nvPr>
            <p:ph type="body"/>
          </p:nvPr>
        </p:nvSpPr>
        <p:spPr>
          <a:xfrm>
            <a:off x="467424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6" name="PlaceHolder 4"/>
          <p:cNvSpPr>
            <a:spLocks noGrp="1"/>
          </p:cNvSpPr>
          <p:nvPr>
            <p:ph type="body"/>
          </p:nvPr>
        </p:nvSpPr>
        <p:spPr>
          <a:xfrm>
            <a:off x="4674240" y="368208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37"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38" name="PlaceHolder 2"/>
          <p:cNvSpPr>
            <a:spLocks noGrp="1"/>
          </p:cNvSpPr>
          <p:nvPr>
            <p:ph type="body"/>
          </p:nvPr>
        </p:nvSpPr>
        <p:spPr>
          <a:xfrm>
            <a:off x="45720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9" name="PlaceHolder 3"/>
          <p:cNvSpPr>
            <a:spLocks noGrp="1"/>
          </p:cNvSpPr>
          <p:nvPr>
            <p:ph type="body"/>
          </p:nvPr>
        </p:nvSpPr>
        <p:spPr>
          <a:xfrm>
            <a:off x="467424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40" name="PlaceHolder 4"/>
          <p:cNvSpPr>
            <a:spLocks noGrp="1"/>
          </p:cNvSpPr>
          <p:nvPr>
            <p:ph type="body"/>
          </p:nvPr>
        </p:nvSpPr>
        <p:spPr>
          <a:xfrm>
            <a:off x="457200" y="3682080"/>
            <a:ext cx="822924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41"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42" name="PlaceHolder 2"/>
          <p:cNvSpPr>
            <a:spLocks noGrp="1"/>
          </p:cNvSpPr>
          <p:nvPr>
            <p:ph type="body"/>
          </p:nvPr>
        </p:nvSpPr>
        <p:spPr>
          <a:xfrm>
            <a:off x="457200" y="1604520"/>
            <a:ext cx="822924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43" name="PlaceHolder 3"/>
          <p:cNvSpPr>
            <a:spLocks noGrp="1"/>
          </p:cNvSpPr>
          <p:nvPr>
            <p:ph type="body"/>
          </p:nvPr>
        </p:nvSpPr>
        <p:spPr>
          <a:xfrm>
            <a:off x="457200" y="3682080"/>
            <a:ext cx="822924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44"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45" name="PlaceHolder 2"/>
          <p:cNvSpPr>
            <a:spLocks noGrp="1"/>
          </p:cNvSpPr>
          <p:nvPr>
            <p:ph type="body"/>
          </p:nvPr>
        </p:nvSpPr>
        <p:spPr>
          <a:xfrm>
            <a:off x="45720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46" name="PlaceHolder 3"/>
          <p:cNvSpPr>
            <a:spLocks noGrp="1"/>
          </p:cNvSpPr>
          <p:nvPr>
            <p:ph type="body"/>
          </p:nvPr>
        </p:nvSpPr>
        <p:spPr>
          <a:xfrm>
            <a:off x="467424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47" name="PlaceHolder 4"/>
          <p:cNvSpPr>
            <a:spLocks noGrp="1"/>
          </p:cNvSpPr>
          <p:nvPr>
            <p:ph type="body"/>
          </p:nvPr>
        </p:nvSpPr>
        <p:spPr>
          <a:xfrm>
            <a:off x="457200" y="368208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48" name="PlaceHolder 5"/>
          <p:cNvSpPr>
            <a:spLocks noGrp="1"/>
          </p:cNvSpPr>
          <p:nvPr>
            <p:ph type="body"/>
          </p:nvPr>
        </p:nvSpPr>
        <p:spPr>
          <a:xfrm>
            <a:off x="4674240" y="368208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49"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50" name="PlaceHolder 2"/>
          <p:cNvSpPr>
            <a:spLocks noGrp="1"/>
          </p:cNvSpPr>
          <p:nvPr>
            <p:ph type="body"/>
          </p:nvPr>
        </p:nvSpPr>
        <p:spPr>
          <a:xfrm>
            <a:off x="457200" y="160452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1" name="PlaceHolder 3"/>
          <p:cNvSpPr>
            <a:spLocks noGrp="1"/>
          </p:cNvSpPr>
          <p:nvPr>
            <p:ph type="body"/>
          </p:nvPr>
        </p:nvSpPr>
        <p:spPr>
          <a:xfrm>
            <a:off x="3239640" y="160452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2" name="PlaceHolder 4"/>
          <p:cNvSpPr>
            <a:spLocks noGrp="1"/>
          </p:cNvSpPr>
          <p:nvPr>
            <p:ph type="body"/>
          </p:nvPr>
        </p:nvSpPr>
        <p:spPr>
          <a:xfrm>
            <a:off x="6022080" y="160452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3" name="PlaceHolder 5"/>
          <p:cNvSpPr>
            <a:spLocks noGrp="1"/>
          </p:cNvSpPr>
          <p:nvPr>
            <p:ph type="body"/>
          </p:nvPr>
        </p:nvSpPr>
        <p:spPr>
          <a:xfrm>
            <a:off x="457200" y="368208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4" name="PlaceHolder 6"/>
          <p:cNvSpPr>
            <a:spLocks noGrp="1"/>
          </p:cNvSpPr>
          <p:nvPr>
            <p:ph type="body"/>
          </p:nvPr>
        </p:nvSpPr>
        <p:spPr>
          <a:xfrm>
            <a:off x="3239640" y="368208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5" name="PlaceHolder 7"/>
          <p:cNvSpPr>
            <a:spLocks noGrp="1"/>
          </p:cNvSpPr>
          <p:nvPr>
            <p:ph type="body"/>
          </p:nvPr>
        </p:nvSpPr>
        <p:spPr>
          <a:xfrm>
            <a:off x="6022080" y="368208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jpe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0" name="CustomShape 1"/>
          <p:cNvSpPr/>
          <p:nvPr/>
        </p:nvSpPr>
        <p:spPr>
          <a:xfrm>
            <a:off x="0" y="0"/>
            <a:ext cx="9143640" cy="837720"/>
          </a:xfrm>
          <a:prstGeom prst="rect">
            <a:avLst/>
          </a:prstGeom>
          <a:solidFill>
            <a:srgbClr val="FF3300"/>
          </a:solidFill>
          <a:ln w="9360">
            <a:noFill/>
          </a:ln>
        </p:spPr>
        <p:style>
          <a:lnRef idx="0">
            <a:scrgbClr r="0" g="0" b="0"/>
          </a:lnRef>
          <a:fillRef idx="0">
            <a:scrgbClr r="0" g="0" b="0"/>
          </a:fillRef>
          <a:effectRef idx="0">
            <a:scrgbClr r="0" g="0" b="0"/>
          </a:effectRef>
          <a:fontRef idx="minor"/>
        </p:style>
        <p:txBody>
          <a:bodyPr/>
          <a:lstStyle/>
          <a:p>
            <a:endParaRPr lang="en-US"/>
          </a:p>
        </p:txBody>
      </p:sp>
      <p:sp>
        <p:nvSpPr>
          <p:cNvPr id="21" name="CustomShape 2"/>
          <p:cNvSpPr/>
          <p:nvPr/>
        </p:nvSpPr>
        <p:spPr>
          <a:xfrm flipV="1">
            <a:off x="0" y="6704640"/>
            <a:ext cx="9143640" cy="197640"/>
          </a:xfrm>
          <a:prstGeom prst="rect">
            <a:avLst/>
          </a:prstGeom>
          <a:solidFill>
            <a:srgbClr val="FF0000"/>
          </a:solidFill>
          <a:ln w="9360">
            <a:noFill/>
          </a:ln>
          <a:scene3d>
            <a:camera prst="orthographicFront"/>
            <a:lightRig rig="threePt" dir="t"/>
          </a:scene3d>
          <a:sp3d/>
        </p:spPr>
        <p:style>
          <a:lnRef idx="0">
            <a:scrgbClr r="0" g="0" b="0"/>
          </a:lnRef>
          <a:fillRef idx="0">
            <a:scrgbClr r="0" g="0" b="0"/>
          </a:fillRef>
          <a:effectRef idx="0">
            <a:scrgbClr r="0" g="0" b="0"/>
          </a:effectRef>
          <a:fontRef idx="minor"/>
        </p:style>
        <p:txBody>
          <a:bodyPr/>
          <a:lstStyle/>
          <a:p>
            <a:endParaRPr lang="en-US"/>
          </a:p>
        </p:txBody>
      </p:sp>
      <p:pic>
        <p:nvPicPr>
          <p:cNvPr id="2" name="Picture 10" descr="LOGO.gif"/>
          <p:cNvPicPr/>
          <p:nvPr/>
        </p:nvPicPr>
        <p:blipFill>
          <a:blip r:embed="rId14"/>
          <a:srcRect b="10718"/>
          <a:stretch/>
        </p:blipFill>
        <p:spPr>
          <a:xfrm>
            <a:off x="6553080" y="228600"/>
            <a:ext cx="2057040" cy="634680"/>
          </a:xfrm>
          <a:prstGeom prst="rect">
            <a:avLst/>
          </a:prstGeom>
          <a:ln w="9360">
            <a:noFill/>
          </a:ln>
        </p:spPr>
      </p:pic>
      <p:pic>
        <p:nvPicPr>
          <p:cNvPr id="3" name="Picture 10" descr="LOGO.gif"/>
          <p:cNvPicPr/>
          <p:nvPr/>
        </p:nvPicPr>
        <p:blipFill>
          <a:blip r:embed="rId14"/>
          <a:srcRect b="10718"/>
          <a:stretch/>
        </p:blipFill>
        <p:spPr>
          <a:xfrm>
            <a:off x="6553080" y="228600"/>
            <a:ext cx="2057040" cy="634680"/>
          </a:xfrm>
          <a:prstGeom prst="rect">
            <a:avLst/>
          </a:prstGeom>
          <a:ln w="9360">
            <a:noFill/>
          </a:ln>
        </p:spPr>
      </p:pic>
      <p:grpSp>
        <p:nvGrpSpPr>
          <p:cNvPr id="4" name="Group 3"/>
          <p:cNvGrpSpPr/>
          <p:nvPr/>
        </p:nvGrpSpPr>
        <p:grpSpPr>
          <a:xfrm>
            <a:off x="6146640" y="0"/>
            <a:ext cx="2997000" cy="875880"/>
            <a:chOff x="6146640" y="0"/>
            <a:chExt cx="2997000" cy="875880"/>
          </a:xfrm>
        </p:grpSpPr>
        <p:sp>
          <p:nvSpPr>
            <p:cNvPr id="5" name="CustomShape 4"/>
            <p:cNvSpPr/>
            <p:nvPr/>
          </p:nvSpPr>
          <p:spPr>
            <a:xfrm>
              <a:off x="6146640" y="0"/>
              <a:ext cx="2997000" cy="837720"/>
            </a:xfrm>
            <a:prstGeom prst="rect">
              <a:avLst/>
            </a:prstGeom>
            <a:solidFill>
              <a:srgbClr val="FF3300"/>
            </a:solidFill>
            <a:ln w="9360">
              <a:noFill/>
            </a:ln>
          </p:spPr>
          <p:style>
            <a:lnRef idx="0">
              <a:scrgbClr r="0" g="0" b="0"/>
            </a:lnRef>
            <a:fillRef idx="0">
              <a:scrgbClr r="0" g="0" b="0"/>
            </a:fillRef>
            <a:effectRef idx="0">
              <a:scrgbClr r="0" g="0" b="0"/>
            </a:effectRef>
            <a:fontRef idx="minor"/>
          </p:style>
          <p:txBody>
            <a:bodyPr/>
            <a:lstStyle/>
            <a:p>
              <a:endParaRPr lang="en-US"/>
            </a:p>
          </p:txBody>
        </p:sp>
        <p:pic>
          <p:nvPicPr>
            <p:cNvPr id="6" name="Picture 9" descr="LOGO.gif"/>
            <p:cNvPicPr/>
            <p:nvPr/>
          </p:nvPicPr>
          <p:blipFill>
            <a:blip r:embed="rId14"/>
            <a:srcRect b="10718"/>
            <a:stretch/>
          </p:blipFill>
          <p:spPr>
            <a:xfrm>
              <a:off x="6553080" y="228600"/>
              <a:ext cx="2057040" cy="634680"/>
            </a:xfrm>
            <a:prstGeom prst="rect">
              <a:avLst/>
            </a:prstGeom>
            <a:ln w="9360">
              <a:noFill/>
            </a:ln>
          </p:spPr>
        </p:pic>
        <p:sp>
          <p:nvSpPr>
            <p:cNvPr id="7" name="CustomShape 5"/>
            <p:cNvSpPr/>
            <p:nvPr/>
          </p:nvSpPr>
          <p:spPr>
            <a:xfrm>
              <a:off x="6527880" y="190440"/>
              <a:ext cx="2076120" cy="6854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a:lstStyle/>
            <a:p>
              <a:endParaRPr lang="en-US"/>
            </a:p>
          </p:txBody>
        </p:sp>
      </p:grpSp>
      <p:pic>
        <p:nvPicPr>
          <p:cNvPr id="8" name="Picture 15" descr="logo.jpg"/>
          <p:cNvPicPr/>
          <p:nvPr/>
        </p:nvPicPr>
        <p:blipFill>
          <a:blip r:embed="rId15"/>
          <a:stretch/>
        </p:blipFill>
        <p:spPr>
          <a:xfrm>
            <a:off x="6553080" y="228600"/>
            <a:ext cx="1920600" cy="609120"/>
          </a:xfrm>
          <a:prstGeom prst="rect">
            <a:avLst/>
          </a:prstGeom>
          <a:ln w="9360">
            <a:noFill/>
          </a:ln>
        </p:spPr>
      </p:pic>
      <p:pic>
        <p:nvPicPr>
          <p:cNvPr id="9" name="Picture 10" descr="LOGO.gif"/>
          <p:cNvPicPr/>
          <p:nvPr/>
        </p:nvPicPr>
        <p:blipFill>
          <a:blip r:embed="rId14"/>
          <a:srcRect b="10718"/>
          <a:stretch/>
        </p:blipFill>
        <p:spPr>
          <a:xfrm>
            <a:off x="6553080" y="228600"/>
            <a:ext cx="2057040" cy="634680"/>
          </a:xfrm>
          <a:prstGeom prst="rect">
            <a:avLst/>
          </a:prstGeom>
          <a:ln w="9360">
            <a:noFill/>
          </a:ln>
        </p:spPr>
      </p:pic>
      <p:grpSp>
        <p:nvGrpSpPr>
          <p:cNvPr id="10" name="Group 6"/>
          <p:cNvGrpSpPr/>
          <p:nvPr/>
        </p:nvGrpSpPr>
        <p:grpSpPr>
          <a:xfrm>
            <a:off x="6146640" y="0"/>
            <a:ext cx="2997000" cy="875880"/>
            <a:chOff x="6146640" y="0"/>
            <a:chExt cx="2997000" cy="875880"/>
          </a:xfrm>
        </p:grpSpPr>
        <p:sp>
          <p:nvSpPr>
            <p:cNvPr id="11" name="CustomShape 7"/>
            <p:cNvSpPr/>
            <p:nvPr/>
          </p:nvSpPr>
          <p:spPr>
            <a:xfrm>
              <a:off x="6146640" y="0"/>
              <a:ext cx="2997000" cy="837720"/>
            </a:xfrm>
            <a:prstGeom prst="rect">
              <a:avLst/>
            </a:prstGeom>
            <a:solidFill>
              <a:srgbClr val="FF3300"/>
            </a:solidFill>
            <a:ln w="9360">
              <a:noFill/>
            </a:ln>
          </p:spPr>
          <p:style>
            <a:lnRef idx="0">
              <a:scrgbClr r="0" g="0" b="0"/>
            </a:lnRef>
            <a:fillRef idx="0">
              <a:scrgbClr r="0" g="0" b="0"/>
            </a:fillRef>
            <a:effectRef idx="0">
              <a:scrgbClr r="0" g="0" b="0"/>
            </a:effectRef>
            <a:fontRef idx="minor"/>
          </p:style>
          <p:txBody>
            <a:bodyPr/>
            <a:lstStyle/>
            <a:p>
              <a:endParaRPr lang="en-US"/>
            </a:p>
          </p:txBody>
        </p:sp>
        <p:pic>
          <p:nvPicPr>
            <p:cNvPr id="12" name="Picture 9" descr="LOGO.gif"/>
            <p:cNvPicPr/>
            <p:nvPr/>
          </p:nvPicPr>
          <p:blipFill>
            <a:blip r:embed="rId14"/>
            <a:srcRect b="10718"/>
            <a:stretch/>
          </p:blipFill>
          <p:spPr>
            <a:xfrm>
              <a:off x="6553080" y="228600"/>
              <a:ext cx="2057040" cy="634680"/>
            </a:xfrm>
            <a:prstGeom prst="rect">
              <a:avLst/>
            </a:prstGeom>
            <a:ln w="9360">
              <a:noFill/>
            </a:ln>
          </p:spPr>
        </p:pic>
        <p:sp>
          <p:nvSpPr>
            <p:cNvPr id="13" name="CustomShape 8"/>
            <p:cNvSpPr/>
            <p:nvPr/>
          </p:nvSpPr>
          <p:spPr>
            <a:xfrm>
              <a:off x="6527880" y="190440"/>
              <a:ext cx="2076120" cy="6854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a:lstStyle/>
            <a:p>
              <a:endParaRPr lang="en-US"/>
            </a:p>
          </p:txBody>
        </p:sp>
      </p:grpSp>
      <p:pic>
        <p:nvPicPr>
          <p:cNvPr id="14" name="Picture 15" descr="logo.jpg"/>
          <p:cNvPicPr/>
          <p:nvPr/>
        </p:nvPicPr>
        <p:blipFill>
          <a:blip r:embed="rId15"/>
          <a:stretch/>
        </p:blipFill>
        <p:spPr>
          <a:xfrm>
            <a:off x="6553080" y="228600"/>
            <a:ext cx="1920600" cy="609120"/>
          </a:xfrm>
          <a:prstGeom prst="rect">
            <a:avLst/>
          </a:prstGeom>
          <a:ln w="9360">
            <a:noFill/>
          </a:ln>
        </p:spPr>
      </p:pic>
      <p:sp>
        <p:nvSpPr>
          <p:cNvPr id="15" name="PlaceHolder 9"/>
          <p:cNvSpPr>
            <a:spLocks noGrp="1"/>
          </p:cNvSpPr>
          <p:nvPr>
            <p:ph type="title"/>
          </p:nvPr>
        </p:nvSpPr>
        <p:spPr>
          <a:xfrm>
            <a:off x="0" y="0"/>
            <a:ext cx="6476760" cy="837720"/>
          </a:xfrm>
          <a:prstGeom prst="rect">
            <a:avLst/>
          </a:prstGeom>
        </p:spPr>
        <p:txBody>
          <a:bodyPr anchor="ctr">
            <a:noAutofit/>
          </a:bodyPr>
          <a:lstStyle/>
          <a:p>
            <a:pPr algn="ctr">
              <a:lnSpc>
                <a:spcPct val="100000"/>
              </a:lnSpc>
            </a:pPr>
            <a:r>
              <a:rPr lang="en-US" sz="3000" b="0" strike="noStrike" spc="-1">
                <a:solidFill>
                  <a:srgbClr val="000000"/>
                </a:solidFill>
                <a:latin typeface="Calibri"/>
                <a:ea typeface="MS PGothic"/>
              </a:rPr>
              <a:t>Click to edit Master title style</a:t>
            </a:r>
            <a:endParaRPr lang="en-US" sz="3000" b="0" strike="noStrike" spc="-1">
              <a:solidFill>
                <a:srgbClr val="000000"/>
              </a:solidFill>
              <a:latin typeface="Arial"/>
            </a:endParaRPr>
          </a:p>
        </p:txBody>
      </p:sp>
      <p:sp>
        <p:nvSpPr>
          <p:cNvPr id="16" name="PlaceHolder 10"/>
          <p:cNvSpPr>
            <a:spLocks noGrp="1"/>
          </p:cNvSpPr>
          <p:nvPr>
            <p:ph type="body"/>
          </p:nvPr>
        </p:nvSpPr>
        <p:spPr>
          <a:xfrm>
            <a:off x="457200" y="1371600"/>
            <a:ext cx="8229240" cy="4525560"/>
          </a:xfrm>
          <a:prstGeom prst="rect">
            <a:avLst/>
          </a:prstGeom>
        </p:spPr>
        <p:txBody>
          <a:bodyPr>
            <a:noAutofit/>
          </a:bodyPr>
          <a:lstStyle/>
          <a:p>
            <a:pPr marL="343080" indent="-342720">
              <a:lnSpc>
                <a:spcPct val="100000"/>
              </a:lnSpc>
              <a:spcBef>
                <a:spcPts val="641"/>
              </a:spcBef>
              <a:buClr>
                <a:srgbClr val="000000"/>
              </a:buClr>
              <a:buFont typeface="Arial"/>
              <a:buChar char="•"/>
            </a:pPr>
            <a:r>
              <a:rPr lang="en-US" sz="3200" b="0" strike="noStrike" spc="-1">
                <a:solidFill>
                  <a:srgbClr val="000000"/>
                </a:solidFill>
                <a:latin typeface="Calibri"/>
                <a:ea typeface="MS PGothic"/>
              </a:rPr>
              <a:t>Click to edit Master text styles</a:t>
            </a:r>
            <a:endParaRPr lang="en-US" sz="3200" b="0" strike="noStrike" spc="-1">
              <a:solidFill>
                <a:srgbClr val="000000"/>
              </a:solidFill>
              <a:latin typeface="Calibri"/>
            </a:endParaRPr>
          </a:p>
          <a:p>
            <a:pPr marL="743040" lvl="1" indent="-285480">
              <a:lnSpc>
                <a:spcPct val="100000"/>
              </a:lnSpc>
              <a:spcBef>
                <a:spcPts val="561"/>
              </a:spcBef>
              <a:buClr>
                <a:srgbClr val="000000"/>
              </a:buClr>
              <a:buFont typeface="Arial"/>
              <a:buChar char="–"/>
            </a:pPr>
            <a:r>
              <a:rPr lang="en-US" sz="2800" b="0" strike="noStrike" spc="-1">
                <a:solidFill>
                  <a:srgbClr val="000000"/>
                </a:solidFill>
                <a:latin typeface="Calibri"/>
                <a:ea typeface="MS PGothic"/>
              </a:rPr>
              <a:t>Second level</a:t>
            </a:r>
            <a:endParaRPr lang="en-US" sz="2800" b="0" strike="noStrike" spc="-1">
              <a:solidFill>
                <a:srgbClr val="000000"/>
              </a:solidFill>
              <a:latin typeface="Calibri"/>
            </a:endParaRPr>
          </a:p>
          <a:p>
            <a:pPr marL="1143000" lvl="2" indent="-228240">
              <a:lnSpc>
                <a:spcPct val="100000"/>
              </a:lnSpc>
              <a:spcBef>
                <a:spcPts val="479"/>
              </a:spcBef>
              <a:buClr>
                <a:srgbClr val="000000"/>
              </a:buClr>
              <a:buFont typeface="Arial"/>
              <a:buChar char="•"/>
            </a:pPr>
            <a:r>
              <a:rPr lang="en-US" sz="2400" b="0" strike="noStrike" spc="-1">
                <a:solidFill>
                  <a:srgbClr val="000000"/>
                </a:solidFill>
                <a:latin typeface="Calibri"/>
                <a:ea typeface="MS PGothic"/>
              </a:rPr>
              <a:t>Third level</a:t>
            </a:r>
            <a:endParaRPr lang="en-US" sz="2400" b="0" strike="noStrike" spc="-1">
              <a:solidFill>
                <a:srgbClr val="000000"/>
              </a:solidFill>
              <a:latin typeface="Calibri"/>
            </a:endParaRPr>
          </a:p>
          <a:p>
            <a:pPr marL="1600200" lvl="3" indent="-228240">
              <a:lnSpc>
                <a:spcPct val="100000"/>
              </a:lnSpc>
              <a:spcBef>
                <a:spcPts val="400"/>
              </a:spcBef>
              <a:buClr>
                <a:srgbClr val="000000"/>
              </a:buClr>
              <a:buFont typeface="Arial"/>
              <a:buChar char="–"/>
            </a:pPr>
            <a:r>
              <a:rPr lang="en-US" sz="2000" b="0" strike="noStrike" spc="-1">
                <a:solidFill>
                  <a:srgbClr val="000000"/>
                </a:solidFill>
                <a:latin typeface="Calibri"/>
                <a:ea typeface="MS PGothic"/>
              </a:rPr>
              <a:t>Fourth level</a:t>
            </a:r>
            <a:endParaRPr lang="en-US" sz="2000" b="0" strike="noStrike" spc="-1">
              <a:solidFill>
                <a:srgbClr val="000000"/>
              </a:solidFill>
              <a:latin typeface="Calibri"/>
            </a:endParaRPr>
          </a:p>
          <a:p>
            <a:pPr marL="2057400" lvl="4" indent="-228240">
              <a:lnSpc>
                <a:spcPct val="100000"/>
              </a:lnSpc>
              <a:spcBef>
                <a:spcPts val="400"/>
              </a:spcBef>
              <a:buClr>
                <a:srgbClr val="000000"/>
              </a:buClr>
              <a:buFont typeface="Arial"/>
              <a:buChar char="»"/>
            </a:pPr>
            <a:r>
              <a:rPr lang="en-US" sz="2000" b="0" strike="noStrike" spc="-1">
                <a:solidFill>
                  <a:srgbClr val="000000"/>
                </a:solidFill>
                <a:latin typeface="Calibri"/>
                <a:ea typeface="MS PGothic"/>
              </a:rPr>
              <a:t>Fifth level</a:t>
            </a:r>
            <a:endParaRPr lang="en-US" sz="2000" b="0" strike="noStrike" spc="-1">
              <a:solidFill>
                <a:srgbClr val="000000"/>
              </a:solidFill>
              <a:latin typeface="Calibri"/>
            </a:endParaRPr>
          </a:p>
        </p:txBody>
      </p:sp>
      <p:sp>
        <p:nvSpPr>
          <p:cNvPr id="17" name="PlaceHolder 11"/>
          <p:cNvSpPr>
            <a:spLocks noGrp="1"/>
          </p:cNvSpPr>
          <p:nvPr>
            <p:ph type="dt"/>
          </p:nvPr>
        </p:nvSpPr>
        <p:spPr>
          <a:xfrm>
            <a:off x="457200" y="6356520"/>
            <a:ext cx="2133360" cy="364680"/>
          </a:xfrm>
          <a:prstGeom prst="rect">
            <a:avLst/>
          </a:prstGeom>
        </p:spPr>
        <p:txBody>
          <a:bodyPr anchor="ctr">
            <a:noAutofit/>
          </a:bodyPr>
          <a:lstStyle/>
          <a:p>
            <a:pPr>
              <a:lnSpc>
                <a:spcPct val="100000"/>
              </a:lnSpc>
            </a:pPr>
            <a:fld id="{AF8DB620-2583-475D-9F87-055691DC1B89}" type="datetime1">
              <a:rPr lang="en-US" sz="1200" b="0" strike="noStrike" spc="-1" smtClean="0">
                <a:latin typeface="Times New Roman"/>
              </a:rPr>
              <a:t>5/21/2026</a:t>
            </a:fld>
            <a:endParaRPr lang="en-GB" sz="1200" b="0" strike="noStrike" spc="-1">
              <a:latin typeface="Times New Roman"/>
            </a:endParaRPr>
          </a:p>
        </p:txBody>
      </p:sp>
      <p:sp>
        <p:nvSpPr>
          <p:cNvPr id="18" name="PlaceHolder 12"/>
          <p:cNvSpPr>
            <a:spLocks noGrp="1"/>
          </p:cNvSpPr>
          <p:nvPr>
            <p:ph type="ftr"/>
          </p:nvPr>
        </p:nvSpPr>
        <p:spPr>
          <a:xfrm>
            <a:off x="3124080" y="6356520"/>
            <a:ext cx="2895120" cy="364680"/>
          </a:xfrm>
          <a:prstGeom prst="rect">
            <a:avLst/>
          </a:prstGeom>
        </p:spPr>
        <p:txBody>
          <a:bodyPr anchor="ctr">
            <a:noAutofit/>
          </a:bodyPr>
          <a:lstStyle/>
          <a:p>
            <a:endParaRPr lang="en-GB" sz="2400" b="0" strike="noStrike" spc="-1">
              <a:latin typeface="Times New Roman"/>
            </a:endParaRPr>
          </a:p>
        </p:txBody>
      </p:sp>
      <p:sp>
        <p:nvSpPr>
          <p:cNvPr id="19" name="PlaceHolder 13"/>
          <p:cNvSpPr>
            <a:spLocks noGrp="1"/>
          </p:cNvSpPr>
          <p:nvPr>
            <p:ph type="sldNum"/>
          </p:nvPr>
        </p:nvSpPr>
        <p:spPr>
          <a:xfrm>
            <a:off x="6553080" y="6356520"/>
            <a:ext cx="2133360" cy="364680"/>
          </a:xfrm>
          <a:prstGeom prst="rect">
            <a:avLst/>
          </a:prstGeom>
        </p:spPr>
        <p:txBody>
          <a:bodyPr anchor="ctr">
            <a:noAutofit/>
          </a:bodyPr>
          <a:lstStyle/>
          <a:p>
            <a:pPr algn="r">
              <a:lnSpc>
                <a:spcPct val="100000"/>
              </a:lnSpc>
            </a:pPr>
            <a:fld id="{1CFDC92E-FF5D-4613-8499-B15BC16E50D9}" type="slidenum">
              <a:rPr lang="en-US" sz="1200" b="0" strike="noStrike" spc="-1">
                <a:solidFill>
                  <a:srgbClr val="898989"/>
                </a:solidFill>
                <a:latin typeface="Calibri"/>
                <a:ea typeface="MS PGothic"/>
              </a:rPr>
              <a:pPr algn="r">
                <a:lnSpc>
                  <a:spcPct val="100000"/>
                </a:lnSpc>
              </a:pPr>
              <a:t>‹#›</a:t>
            </a:fld>
            <a:endParaRPr lang="en-GB" sz="1200" b="0" strike="noStrike" spc="-1">
              <a:latin typeface="Times New Roman"/>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Shape 1"/>
          <p:cNvSpPr txBox="1"/>
          <p:nvPr/>
        </p:nvSpPr>
        <p:spPr>
          <a:xfrm>
            <a:off x="0" y="840631"/>
            <a:ext cx="9144000" cy="5717485"/>
          </a:xfrm>
          <a:prstGeom prst="rect">
            <a:avLst/>
          </a:prstGeom>
          <a:noFill/>
          <a:ln w="9360">
            <a:noFill/>
          </a:ln>
        </p:spPr>
        <p:txBody>
          <a:bodyPr>
            <a:noAutofit/>
          </a:bodyPr>
          <a:lstStyle/>
          <a:p>
            <a:pPr algn="ctr">
              <a:lnSpc>
                <a:spcPct val="100000"/>
              </a:lnSpc>
              <a:spcBef>
                <a:spcPts val="400"/>
              </a:spcBef>
            </a:pPr>
            <a:r>
              <a:rPr lang="en-IN" dirty="0">
                <a:latin typeface="Times New Roman" panose="02020603050405020304" pitchFamily="18" charset="0"/>
                <a:ea typeface="Calibri" panose="020F0502020204030204" pitchFamily="34" charset="0"/>
                <a:cs typeface="Times New Roman" panose="02020603050405020304" pitchFamily="18" charset="0"/>
              </a:rPr>
              <a:t>Project Presentation of </a:t>
            </a:r>
            <a:r>
              <a:rPr lang="en-US" dirty="0">
                <a:latin typeface="Times New Roman" panose="02020603050405020304" pitchFamily="18" charset="0"/>
                <a:ea typeface="Calibri" panose="020F0502020204030204" pitchFamily="34" charset="0"/>
                <a:cs typeface="Times New Roman" panose="02020603050405020304" pitchFamily="18" charset="0"/>
              </a:rPr>
              <a:t>Co-Op Project at Industry (Module-2) </a:t>
            </a:r>
            <a:endParaRPr lang="en-IN" dirty="0">
              <a:latin typeface="Times New Roman" panose="02020603050405020304" pitchFamily="18" charset="0"/>
              <a:ea typeface="Calibri" panose="020F0502020204030204" pitchFamily="34" charset="0"/>
              <a:cs typeface="Times New Roman" panose="02020603050405020304" pitchFamily="18" charset="0"/>
            </a:endParaRPr>
          </a:p>
          <a:p>
            <a:pPr algn="ctr">
              <a:lnSpc>
                <a:spcPct val="100000"/>
              </a:lnSpc>
              <a:spcBef>
                <a:spcPts val="400"/>
              </a:spcBef>
            </a:pPr>
            <a:r>
              <a:rPr lang="en-US" sz="2000" spc="-1" dirty="0">
                <a:latin typeface="Times New Roman" panose="02020603050405020304" pitchFamily="18" charset="0"/>
                <a:ea typeface="Calibri" panose="020F0502020204030204" pitchFamily="34" charset="0"/>
                <a:cs typeface="Times New Roman" panose="02020603050405020304" pitchFamily="18" charset="0"/>
              </a:rPr>
              <a:t>On</a:t>
            </a:r>
          </a:p>
          <a:p>
            <a:pPr algn="ctr">
              <a:lnSpc>
                <a:spcPct val="100000"/>
              </a:lnSpc>
              <a:spcBef>
                <a:spcPts val="400"/>
              </a:spcBef>
            </a:pPr>
            <a:endParaRPr lang="en-US" sz="2000" spc="-1" dirty="0">
              <a:latin typeface="Times New Roman" panose="02020603050405020304" pitchFamily="18" charset="0"/>
              <a:ea typeface="Calibri" panose="020F0502020204030204" pitchFamily="34" charset="0"/>
              <a:cs typeface="Times New Roman" panose="02020603050405020304" pitchFamily="18" charset="0"/>
            </a:endParaRPr>
          </a:p>
          <a:p>
            <a:pPr algn="ctr">
              <a:lnSpc>
                <a:spcPct val="100000"/>
              </a:lnSpc>
              <a:spcBef>
                <a:spcPts val="400"/>
              </a:spcBef>
            </a:pPr>
            <a:r>
              <a:rPr lang="en-US" sz="2000" spc="-1" dirty="0">
                <a:solidFill>
                  <a:srgbClr val="000000"/>
                </a:solidFill>
                <a:latin typeface="Times New Roman" panose="02020603050405020304" pitchFamily="18" charset="0"/>
                <a:ea typeface="MS PGothic"/>
                <a:cs typeface="Times New Roman" panose="02020603050405020304" pitchFamily="18" charset="0"/>
              </a:rPr>
              <a:t>Shubham Thakur</a:t>
            </a:r>
          </a:p>
          <a:p>
            <a:pPr algn="ctr">
              <a:lnSpc>
                <a:spcPct val="100000"/>
              </a:lnSpc>
              <a:spcBef>
                <a:spcPts val="400"/>
              </a:spcBef>
            </a:pPr>
            <a:r>
              <a:rPr lang="en-US" sz="2000" b="0" strike="noStrike" spc="-1" dirty="0">
                <a:solidFill>
                  <a:srgbClr val="000000"/>
                </a:solidFill>
                <a:latin typeface="Times New Roman" panose="02020603050405020304" pitchFamily="18" charset="0"/>
                <a:ea typeface="MS PGothic"/>
                <a:cs typeface="Times New Roman" panose="02020603050405020304" pitchFamily="18" charset="0"/>
              </a:rPr>
              <a:t>2210992414</a:t>
            </a:r>
            <a:endParaRPr lang="en-US" sz="2000" spc="-1" dirty="0">
              <a:solidFill>
                <a:srgbClr val="000000"/>
              </a:solidFill>
              <a:latin typeface="Times New Roman" panose="02020603050405020304" pitchFamily="18" charset="0"/>
              <a:ea typeface="MS PGothic"/>
              <a:cs typeface="Times New Roman" panose="02020603050405020304" pitchFamily="18" charset="0"/>
            </a:endParaRPr>
          </a:p>
          <a:p>
            <a:pPr algn="ctr">
              <a:lnSpc>
                <a:spcPct val="100000"/>
              </a:lnSpc>
              <a:spcBef>
                <a:spcPts val="400"/>
              </a:spcBef>
            </a:pPr>
            <a:r>
              <a:rPr lang="en-US" sz="2000" b="0" strike="noStrike" spc="-1" dirty="0">
                <a:solidFill>
                  <a:srgbClr val="000000"/>
                </a:solidFill>
                <a:latin typeface="Times New Roman" panose="02020603050405020304" pitchFamily="18" charset="0"/>
                <a:ea typeface="MS PGothic"/>
                <a:cs typeface="Times New Roman" panose="02020603050405020304" pitchFamily="18" charset="0"/>
              </a:rPr>
              <a:t>Aayush </a:t>
            </a:r>
            <a:r>
              <a:rPr lang="en-US" sz="2000" spc="-1" dirty="0">
                <a:solidFill>
                  <a:srgbClr val="000000"/>
                </a:solidFill>
                <a:latin typeface="Times New Roman" panose="02020603050405020304" pitchFamily="18" charset="0"/>
                <a:ea typeface="MS PGothic"/>
                <a:cs typeface="Times New Roman" panose="02020603050405020304" pitchFamily="18" charset="0"/>
              </a:rPr>
              <a:t>Ranjan</a:t>
            </a:r>
          </a:p>
          <a:p>
            <a:pPr algn="ctr">
              <a:lnSpc>
                <a:spcPct val="100000"/>
              </a:lnSpc>
              <a:spcBef>
                <a:spcPts val="400"/>
              </a:spcBef>
            </a:pPr>
            <a:r>
              <a:rPr lang="en-US" sz="2000" b="0" strike="noStrike" spc="-1" dirty="0">
                <a:solidFill>
                  <a:srgbClr val="000000"/>
                </a:solidFill>
                <a:latin typeface="Times New Roman" panose="02020603050405020304" pitchFamily="18" charset="0"/>
                <a:ea typeface="MS PGothic"/>
                <a:cs typeface="Times New Roman" panose="02020603050405020304" pitchFamily="18" charset="0"/>
              </a:rPr>
              <a:t>221099</a:t>
            </a:r>
            <a:r>
              <a:rPr lang="en-US" sz="2000" spc="-1" dirty="0">
                <a:solidFill>
                  <a:srgbClr val="000000"/>
                </a:solidFill>
                <a:latin typeface="Times New Roman" panose="02020603050405020304" pitchFamily="18" charset="0"/>
                <a:ea typeface="MS PGothic"/>
                <a:cs typeface="Times New Roman" panose="02020603050405020304" pitchFamily="18" charset="0"/>
              </a:rPr>
              <a:t>1137</a:t>
            </a:r>
            <a:br>
              <a:rPr lang="en-US" sz="2000" b="0" strike="noStrike" spc="-1" dirty="0">
                <a:solidFill>
                  <a:srgbClr val="000000"/>
                </a:solidFill>
                <a:latin typeface="Times New Roman" panose="02020603050405020304" pitchFamily="18" charset="0"/>
                <a:ea typeface="MS PGothic"/>
                <a:cs typeface="Times New Roman" panose="02020603050405020304" pitchFamily="18" charset="0"/>
              </a:rPr>
            </a:br>
            <a:br>
              <a:rPr lang="en-US" sz="2000" b="0" strike="noStrike" spc="-1" dirty="0">
                <a:solidFill>
                  <a:srgbClr val="000000"/>
                </a:solidFill>
                <a:latin typeface="Times New Roman" panose="02020603050405020304" pitchFamily="18" charset="0"/>
                <a:ea typeface="MS PGothic"/>
                <a:cs typeface="Times New Roman" panose="02020603050405020304" pitchFamily="18" charset="0"/>
              </a:rPr>
            </a:br>
            <a:r>
              <a:rPr lang="en-US" sz="2000" spc="-1" dirty="0">
                <a:solidFill>
                  <a:srgbClr val="000000"/>
                </a:solidFill>
                <a:latin typeface="Times New Roman" panose="02020603050405020304" pitchFamily="18" charset="0"/>
                <a:ea typeface="MS PGothic"/>
                <a:cs typeface="Times New Roman" panose="02020603050405020304" pitchFamily="18" charset="0"/>
              </a:rPr>
              <a:t>Supervised By :</a:t>
            </a:r>
          </a:p>
          <a:p>
            <a:pPr algn="ctr"/>
            <a:r>
              <a:rPr lang="en-IN" dirty="0">
                <a:latin typeface="Times New Roman" panose="02020603050405020304" pitchFamily="18" charset="0"/>
                <a:cs typeface="Times New Roman" panose="02020603050405020304" pitchFamily="18" charset="0"/>
              </a:rPr>
              <a:t>Shyam B G</a:t>
            </a:r>
          </a:p>
          <a:p>
            <a:pPr algn="ctr">
              <a:lnSpc>
                <a:spcPct val="100000"/>
              </a:lnSpc>
              <a:spcBef>
                <a:spcPts val="400"/>
              </a:spcBef>
            </a:pPr>
            <a:r>
              <a:rPr lang="en-US" sz="2400" spc="-1" dirty="0">
                <a:latin typeface="Times New Roman" panose="02020603050405020304" pitchFamily="18" charset="0"/>
                <a:ea typeface="MS PGothic"/>
                <a:cs typeface="Times New Roman" panose="02020603050405020304" pitchFamily="18" charset="0"/>
              </a:rPr>
              <a:t>Department of </a:t>
            </a:r>
            <a:r>
              <a:rPr lang="en-US" sz="2400" b="0" strike="noStrike" spc="-1" dirty="0">
                <a:latin typeface="Times New Roman" panose="02020603050405020304" pitchFamily="18" charset="0"/>
                <a:ea typeface="MS PGothic"/>
                <a:cs typeface="Times New Roman" panose="02020603050405020304" pitchFamily="18" charset="0"/>
              </a:rPr>
              <a:t>Computer Science and Engineering, </a:t>
            </a:r>
          </a:p>
          <a:p>
            <a:pPr algn="ctr">
              <a:lnSpc>
                <a:spcPct val="100000"/>
              </a:lnSpc>
              <a:spcBef>
                <a:spcPts val="400"/>
              </a:spcBef>
            </a:pPr>
            <a:r>
              <a:rPr lang="en-US" sz="2400" b="0" strike="noStrike" spc="-1" dirty="0">
                <a:latin typeface="Times New Roman" panose="02020603050405020304" pitchFamily="18" charset="0"/>
                <a:ea typeface="MS PGothic"/>
                <a:cs typeface="Times New Roman" panose="02020603050405020304" pitchFamily="18" charset="0"/>
              </a:rPr>
              <a:t>Chitkara University, Punjab</a:t>
            </a:r>
          </a:p>
          <a:p>
            <a:pPr algn="ctr">
              <a:lnSpc>
                <a:spcPct val="150000"/>
              </a:lnSpc>
              <a:spcBef>
                <a:spcPts val="400"/>
              </a:spcBef>
            </a:pPr>
            <a:endParaRPr lang="en-US" sz="2000" b="0" strike="noStrike" spc="-1" dirty="0">
              <a:solidFill>
                <a:srgbClr val="000000"/>
              </a:solidFill>
              <a:latin typeface="Calibri"/>
            </a:endParaRPr>
          </a:p>
          <a:p>
            <a:pPr>
              <a:lnSpc>
                <a:spcPct val="100000"/>
              </a:lnSpc>
              <a:spcBef>
                <a:spcPts val="641"/>
              </a:spcBef>
            </a:pPr>
            <a:endParaRPr lang="en-US" sz="2000" b="0" strike="noStrike" spc="-1" dirty="0">
              <a:solidFill>
                <a:srgbClr val="000000"/>
              </a:solidFill>
              <a:latin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 name="TextShape 1"/>
          <p:cNvSpPr txBox="1"/>
          <p:nvPr/>
        </p:nvSpPr>
        <p:spPr>
          <a:xfrm>
            <a:off x="457200" y="0"/>
            <a:ext cx="6019560" cy="837720"/>
          </a:xfrm>
          <a:prstGeom prst="rect">
            <a:avLst/>
          </a:prstGeom>
          <a:noFill/>
          <a:ln w="9360">
            <a:noFill/>
          </a:ln>
        </p:spPr>
        <p:txBody>
          <a:bodyPr anchor="ctr">
            <a:noAutofit/>
          </a:bodyPr>
          <a:lstStyle/>
          <a:p>
            <a:pPr algn="ctr">
              <a:lnSpc>
                <a:spcPct val="100000"/>
              </a:lnSpc>
            </a:pPr>
            <a:r>
              <a:rPr lang="en" sz="3200" dirty="0">
                <a:latin typeface="Times New Roman" panose="02020603050405020304" pitchFamily="18" charset="0"/>
                <a:cs typeface="Times New Roman" panose="02020603050405020304" pitchFamily="18" charset="0"/>
              </a:rPr>
              <a:t>Introduction</a:t>
            </a:r>
            <a:endParaRPr lang="en-US" sz="3000" b="0" strike="noStrike" spc="-1" dirty="0">
              <a:solidFill>
                <a:srgbClr val="000000"/>
              </a:solidFill>
              <a:latin typeface="Times New Roman" panose="02020603050405020304" pitchFamily="18" charset="0"/>
              <a:cs typeface="Times New Roman" panose="02020603050405020304" pitchFamily="18" charset="0"/>
            </a:endParaRPr>
          </a:p>
        </p:txBody>
      </p:sp>
      <p:sp>
        <p:nvSpPr>
          <p:cNvPr id="110" name="TextShape 3"/>
          <p:cNvSpPr txBox="1"/>
          <p:nvPr/>
        </p:nvSpPr>
        <p:spPr>
          <a:xfrm>
            <a:off x="6553080" y="6356520"/>
            <a:ext cx="2133360" cy="364680"/>
          </a:xfrm>
          <a:prstGeom prst="rect">
            <a:avLst/>
          </a:prstGeom>
          <a:noFill/>
          <a:ln>
            <a:noFill/>
          </a:ln>
        </p:spPr>
        <p:txBody>
          <a:bodyPr anchor="ctr">
            <a:noAutofit/>
          </a:bodyPr>
          <a:lstStyle/>
          <a:p>
            <a:pPr algn="r">
              <a:lnSpc>
                <a:spcPct val="100000"/>
              </a:lnSpc>
            </a:pPr>
            <a:fld id="{4D4FEEEE-7AC5-48A9-86F4-13448BE87B58}" type="slidenum">
              <a:rPr lang="en-US" sz="1200" b="1" strike="noStrike" spc="-1">
                <a:solidFill>
                  <a:srgbClr val="000000"/>
                </a:solidFill>
                <a:latin typeface="Calibri"/>
                <a:ea typeface="MS PGothic"/>
              </a:rPr>
              <a:pPr algn="r">
                <a:lnSpc>
                  <a:spcPct val="100000"/>
                </a:lnSpc>
              </a:pPr>
              <a:t>2</a:t>
            </a:fld>
            <a:endParaRPr lang="en-GB" sz="1200" b="0" strike="noStrike" spc="-1">
              <a:latin typeface="Times New Roman"/>
            </a:endParaRPr>
          </a:p>
        </p:txBody>
      </p:sp>
      <p:sp>
        <p:nvSpPr>
          <p:cNvPr id="5" name="TextShape 2"/>
          <p:cNvSpPr txBox="1"/>
          <p:nvPr/>
        </p:nvSpPr>
        <p:spPr>
          <a:xfrm>
            <a:off x="164008" y="1109742"/>
            <a:ext cx="8838720" cy="4838571"/>
          </a:xfrm>
          <a:prstGeom prst="rect">
            <a:avLst/>
          </a:prstGeom>
          <a:noFill/>
          <a:ln w="9360">
            <a:noFill/>
          </a:ln>
        </p:spPr>
        <p:txBody>
          <a:bodyPr>
            <a:noAutofit/>
          </a:bodyPr>
          <a:lstStyle/>
          <a:p>
            <a:pPr marL="342900" indent="-342900">
              <a:spcAft>
                <a:spcPts val="400"/>
              </a:spcAft>
              <a:buSzPct val="100000"/>
              <a:buFontTx/>
              <a:buChar char="•"/>
            </a:pPr>
            <a:r>
              <a:rPr lang="en-US" sz="1600" dirty="0">
                <a:latin typeface="Times New Roman" panose="02020603050405020304" pitchFamily="18" charset="0"/>
                <a:cs typeface="Times New Roman" panose="02020603050405020304" pitchFamily="18" charset="0"/>
              </a:rPr>
              <a:t>Data processing has become an essential part of modern analytics systems due to the rapid growth of large-scale data from applications, logs, and online platforms. Traditional tools like Pandas perform efficiently on small datasets but face memory and scalability limitations as data size increases. On the other hand, </a:t>
            </a:r>
            <a:r>
              <a:rPr lang="en-US" sz="1600" dirty="0" err="1">
                <a:latin typeface="Times New Roman" panose="02020603050405020304" pitchFamily="18" charset="0"/>
                <a:cs typeface="Times New Roman" panose="02020603050405020304" pitchFamily="18" charset="0"/>
              </a:rPr>
              <a:t>PySpark</a:t>
            </a:r>
            <a:r>
              <a:rPr lang="en-US" sz="1600" dirty="0">
                <a:latin typeface="Times New Roman" panose="02020603050405020304" pitchFamily="18" charset="0"/>
                <a:cs typeface="Times New Roman" panose="02020603050405020304" pitchFamily="18" charset="0"/>
              </a:rPr>
              <a:t> provides distributed and parallel processing capabilities for handling big data workloads.</a:t>
            </a:r>
          </a:p>
          <a:p>
            <a:pPr marL="342900" indent="-342900">
              <a:spcAft>
                <a:spcPts val="400"/>
              </a:spcAft>
              <a:buSzPct val="100000"/>
              <a:buChar char="•"/>
            </a:pPr>
            <a:endParaRPr lang="en-US" sz="1600" dirty="0">
              <a:latin typeface="Times New Roman" panose="02020603050405020304" pitchFamily="18" charset="0"/>
              <a:cs typeface="Times New Roman" panose="02020603050405020304" pitchFamily="18" charset="0"/>
            </a:endParaRPr>
          </a:p>
          <a:p>
            <a:pPr marL="342900" indent="-342900">
              <a:spcAft>
                <a:spcPts val="400"/>
              </a:spcAft>
              <a:buSzPct val="100000"/>
              <a:buChar char="•"/>
            </a:pPr>
            <a:r>
              <a:rPr lang="en-US" sz="1600" dirty="0">
                <a:latin typeface="Times New Roman" panose="02020603050405020304" pitchFamily="18" charset="0"/>
                <a:cs typeface="Times New Roman" panose="02020603050405020304" pitchFamily="18" charset="0"/>
              </a:rPr>
              <a:t>Data pipelines are essential for modern analytics systems to extract, clean, transform, and analyze large volumes of </a:t>
            </a:r>
            <a:r>
              <a:rPr lang="en-US" sz="1600" dirty="0" err="1">
                <a:latin typeface="Times New Roman" panose="02020603050405020304" pitchFamily="18" charset="0"/>
                <a:cs typeface="Times New Roman" panose="02020603050405020304" pitchFamily="18" charset="0"/>
              </a:rPr>
              <a:t>data.</a:t>
            </a:r>
            <a:r>
              <a:rPr lang="en-US" sz="1600" dirty="0" err="1">
                <a:solidFill>
                  <a:srgbClr val="222222"/>
                </a:solidFill>
                <a:latin typeface="Times New Roman" panose="02020603050405020304" pitchFamily="18" charset="0"/>
                <a:ea typeface="Calibri" pitchFamily="34" charset="-122"/>
                <a:cs typeface="Times New Roman" panose="02020603050405020304" pitchFamily="18" charset="0"/>
              </a:rPr>
              <a:t>Exercise</a:t>
            </a:r>
            <a:r>
              <a:rPr lang="en-US" sz="1600" dirty="0">
                <a:solidFill>
                  <a:srgbClr val="222222"/>
                </a:solidFill>
                <a:latin typeface="Times New Roman" panose="02020603050405020304" pitchFamily="18" charset="0"/>
                <a:ea typeface="Calibri" pitchFamily="34" charset="-122"/>
                <a:cs typeface="Times New Roman" panose="02020603050405020304" pitchFamily="18" charset="0"/>
              </a:rPr>
              <a:t> frequency and screen time</a:t>
            </a:r>
          </a:p>
          <a:p>
            <a:pPr marL="342900" indent="-342900">
              <a:spcAft>
                <a:spcPts val="400"/>
              </a:spcAft>
              <a:buSzPct val="100000"/>
              <a:buChar char="•"/>
            </a:pPr>
            <a:r>
              <a:rPr lang="en-US" sz="1600" dirty="0">
                <a:latin typeface="Times New Roman" panose="02020603050405020304" pitchFamily="18" charset="0"/>
                <a:cs typeface="Times New Roman" panose="02020603050405020304" pitchFamily="18" charset="0"/>
              </a:rPr>
              <a:t>Pandas is widely used for fast and simple data processing but faces limitations with very large datasets.</a:t>
            </a:r>
          </a:p>
          <a:p>
            <a:pPr marL="342900" indent="-342900">
              <a:spcAft>
                <a:spcPts val="400"/>
              </a:spcAft>
              <a:buSzPct val="100000"/>
              <a:buChar char="•"/>
            </a:pPr>
            <a:r>
              <a:rPr lang="en-US" sz="1600" dirty="0" err="1">
                <a:latin typeface="Times New Roman" panose="02020603050405020304" pitchFamily="18" charset="0"/>
                <a:cs typeface="Times New Roman" panose="02020603050405020304" pitchFamily="18" charset="0"/>
              </a:rPr>
              <a:t>PySpark</a:t>
            </a:r>
            <a:r>
              <a:rPr lang="en-US" sz="1600" dirty="0">
                <a:latin typeface="Times New Roman" panose="02020603050405020304" pitchFamily="18" charset="0"/>
                <a:cs typeface="Times New Roman" panose="02020603050405020304" pitchFamily="18" charset="0"/>
              </a:rPr>
              <a:t> uses distributed computing to efficiently process big data at scale.</a:t>
            </a:r>
          </a:p>
          <a:p>
            <a:pPr marL="342900" indent="-342900">
              <a:spcAft>
                <a:spcPts val="400"/>
              </a:spcAft>
              <a:buSzPct val="100000"/>
              <a:buChar char="•"/>
            </a:pPr>
            <a:r>
              <a:rPr lang="en-US" sz="1600" dirty="0">
                <a:latin typeface="Times New Roman" panose="02020603050405020304" pitchFamily="18" charset="0"/>
                <a:cs typeface="Times New Roman" panose="02020603050405020304" pitchFamily="18" charset="0"/>
              </a:rPr>
              <a:t>This research compares Pandas and </a:t>
            </a:r>
            <a:r>
              <a:rPr lang="en-US" sz="1600" dirty="0" err="1">
                <a:latin typeface="Times New Roman" panose="02020603050405020304" pitchFamily="18" charset="0"/>
                <a:cs typeface="Times New Roman" panose="02020603050405020304" pitchFamily="18" charset="0"/>
              </a:rPr>
              <a:t>PySpark</a:t>
            </a:r>
            <a:r>
              <a:rPr lang="en-US" sz="1600" dirty="0">
                <a:latin typeface="Times New Roman" panose="02020603050405020304" pitchFamily="18" charset="0"/>
                <a:cs typeface="Times New Roman" panose="02020603050405020304" pitchFamily="18" charset="0"/>
              </a:rPr>
              <a:t> across different stages of a data pipeline using datasets from 10K to 10M rows.</a:t>
            </a:r>
          </a:p>
          <a:p>
            <a:pPr marL="342900" indent="-342900">
              <a:spcAft>
                <a:spcPts val="400"/>
              </a:spcAft>
              <a:buSzPct val="100000"/>
              <a:buChar char="•"/>
            </a:pPr>
            <a:r>
              <a:rPr lang="en-US" sz="1600" dirty="0">
                <a:latin typeface="Times New Roman" panose="02020603050405020304" pitchFamily="18" charset="0"/>
                <a:cs typeface="Times New Roman" panose="02020603050405020304" pitchFamily="18" charset="0"/>
              </a:rPr>
              <a:t>The study focuses on execution time, memory usage, scalability, and identifying when </a:t>
            </a:r>
            <a:r>
              <a:rPr lang="en-US" sz="1600" dirty="0" err="1">
                <a:latin typeface="Times New Roman" panose="02020603050405020304" pitchFamily="18" charset="0"/>
                <a:cs typeface="Times New Roman" panose="02020603050405020304" pitchFamily="18" charset="0"/>
              </a:rPr>
              <a:t>PySpark</a:t>
            </a:r>
            <a:r>
              <a:rPr lang="en-US" sz="1600" dirty="0">
                <a:latin typeface="Times New Roman" panose="02020603050405020304" pitchFamily="18" charset="0"/>
                <a:cs typeface="Times New Roman" panose="02020603050405020304" pitchFamily="18" charset="0"/>
              </a:rPr>
              <a:t> becomes more efficient than Pandas.</a:t>
            </a:r>
            <a:endParaRPr lang="en-US" sz="1600" dirty="0">
              <a:solidFill>
                <a:srgbClr val="222222"/>
              </a:solidFill>
              <a:latin typeface="Times New Roman" panose="02020603050405020304" pitchFamily="18" charset="0"/>
              <a:ea typeface="Calibri" pitchFamily="34" charset="-122"/>
              <a:cs typeface="Times New Roman" panose="02020603050405020304" pitchFamily="18" charset="0"/>
            </a:endParaRPr>
          </a:p>
          <a:p>
            <a:pPr>
              <a:lnSpc>
                <a:spcPct val="150000"/>
              </a:lnSpc>
              <a:spcBef>
                <a:spcPts val="400"/>
              </a:spcBef>
            </a:pPr>
            <a:endParaRPr lang="en-US" sz="1900" b="0" strike="noStrike" spc="-1" dirty="0">
              <a:solidFill>
                <a:srgbClr val="000000"/>
              </a:solidFill>
              <a:latin typeface="Calibri"/>
            </a:endParaRPr>
          </a:p>
          <a:p>
            <a:pPr>
              <a:lnSpc>
                <a:spcPct val="150000"/>
              </a:lnSpc>
              <a:spcBef>
                <a:spcPts val="400"/>
              </a:spcBef>
            </a:pPr>
            <a:endParaRPr lang="en-US" sz="1900" b="0" strike="noStrike" spc="-1" dirty="0">
              <a:solidFill>
                <a:srgbClr val="000000"/>
              </a:solidFill>
              <a:latin typeface="Calibri"/>
            </a:endParaRPr>
          </a:p>
          <a:p>
            <a:pPr>
              <a:lnSpc>
                <a:spcPct val="150000"/>
              </a:lnSpc>
              <a:spcBef>
                <a:spcPts val="400"/>
              </a:spcBef>
            </a:pPr>
            <a:endParaRPr lang="en-US" sz="1900" b="0" strike="noStrike" spc="-1" dirty="0">
              <a:solidFill>
                <a:srgbClr val="000000"/>
              </a:solidFill>
              <a:latin typeface="Calibri"/>
            </a:endParaRPr>
          </a:p>
          <a:p>
            <a:pPr>
              <a:lnSpc>
                <a:spcPct val="100000"/>
              </a:lnSpc>
              <a:spcBef>
                <a:spcPts val="400"/>
              </a:spcBef>
            </a:pPr>
            <a:endParaRPr lang="en-US" sz="1900" b="0" strike="noStrike" spc="-1" dirty="0">
              <a:solidFill>
                <a:srgbClr val="000000"/>
              </a:solidFill>
              <a:latin typeface="Calibri"/>
            </a:endParaRPr>
          </a:p>
          <a:p>
            <a:pPr>
              <a:lnSpc>
                <a:spcPct val="100000"/>
              </a:lnSpc>
              <a:spcBef>
                <a:spcPts val="400"/>
              </a:spcBef>
            </a:pPr>
            <a:endParaRPr lang="en-US" sz="1900" b="0" strike="noStrike" spc="-1" dirty="0">
              <a:solidFill>
                <a:srgbClr val="000000"/>
              </a:solidFill>
              <a:latin typeface="Calibri"/>
            </a:endParaRPr>
          </a:p>
          <a:p>
            <a:pPr>
              <a:lnSpc>
                <a:spcPct val="100000"/>
              </a:lnSpc>
              <a:spcBef>
                <a:spcPts val="400"/>
              </a:spcBef>
            </a:pPr>
            <a:endParaRPr lang="en-US" sz="1900" b="0" strike="noStrike" spc="-1" dirty="0">
              <a:solidFill>
                <a:srgbClr val="000000"/>
              </a:solidFill>
              <a:latin typeface="Calibri"/>
            </a:endParaRPr>
          </a:p>
          <a:p>
            <a:pPr>
              <a:lnSpc>
                <a:spcPct val="100000"/>
              </a:lnSpc>
              <a:spcBef>
                <a:spcPts val="400"/>
              </a:spcBef>
            </a:pPr>
            <a:endParaRPr lang="en-US" sz="1900" b="0" strike="noStrike" spc="-1" dirty="0">
              <a:solidFill>
                <a:srgbClr val="000000"/>
              </a:solidFill>
              <a:latin typeface="Calibri"/>
            </a:endParaRPr>
          </a:p>
          <a:p>
            <a:pPr>
              <a:lnSpc>
                <a:spcPct val="100000"/>
              </a:lnSpc>
              <a:spcBef>
                <a:spcPts val="400"/>
              </a:spcBef>
            </a:pPr>
            <a:endParaRPr lang="en-US" sz="1900" b="0" strike="noStrike" spc="-1" dirty="0">
              <a:solidFill>
                <a:srgbClr val="000000"/>
              </a:solidFill>
              <a:latin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082C66-E110-AD4D-E3F4-38A538C98FC1}"/>
              </a:ext>
            </a:extLst>
          </p:cNvPr>
          <p:cNvSpPr>
            <a:spLocks noGrp="1"/>
          </p:cNvSpPr>
          <p:nvPr>
            <p:ph type="title"/>
          </p:nvPr>
        </p:nvSpPr>
        <p:spPr/>
        <p:txBody>
          <a:bodyPr/>
          <a:lstStyle/>
          <a:p>
            <a:pPr algn="ctr"/>
            <a:r>
              <a:rPr lang="en-IN" sz="3200" dirty="0">
                <a:latin typeface="Times New Roman" panose="02020603050405020304" pitchFamily="18" charset="0"/>
                <a:cs typeface="Times New Roman" panose="02020603050405020304" pitchFamily="18" charset="0"/>
              </a:rPr>
              <a:t>Problem Statement</a:t>
            </a:r>
          </a:p>
        </p:txBody>
      </p:sp>
      <p:sp>
        <p:nvSpPr>
          <p:cNvPr id="4" name="TextBox 3">
            <a:extLst>
              <a:ext uri="{FF2B5EF4-FFF2-40B4-BE49-F238E27FC236}">
                <a16:creationId xmlns:a16="http://schemas.microsoft.com/office/drawing/2014/main" id="{24F70114-2CB0-4BF6-A257-B22D8B43C1C8}"/>
              </a:ext>
            </a:extLst>
          </p:cNvPr>
          <p:cNvSpPr txBox="1"/>
          <p:nvPr/>
        </p:nvSpPr>
        <p:spPr>
          <a:xfrm>
            <a:off x="238217" y="1541586"/>
            <a:ext cx="8316700" cy="3282950"/>
          </a:xfrm>
          <a:prstGeom prst="rect">
            <a:avLst/>
          </a:prstGeom>
          <a:noFill/>
        </p:spPr>
        <p:txBody>
          <a:bodyPr wrap="square" rtlCol="0">
            <a:spAutoFit/>
          </a:bodyPr>
          <a:lstStyle/>
          <a:p>
            <a:r>
              <a:rPr lang="en-US" sz="1600" dirty="0"/>
              <a:t>Modern data systems generate massive amounts of data that require efficient ETL processing. Pandas works well for small datasets but faces memory and scalability limitations on large data, while </a:t>
            </a:r>
            <a:r>
              <a:rPr lang="en-US" sz="1600" dirty="0" err="1"/>
              <a:t>PySpark</a:t>
            </a:r>
            <a:r>
              <a:rPr lang="en-US" sz="1600" dirty="0"/>
              <a:t> supports distributed processing with additional overhead</a:t>
            </a:r>
            <a:r>
              <a:rPr lang="en-US" sz="1600" dirty="0">
                <a:solidFill>
                  <a:srgbClr val="222222"/>
                </a:solidFill>
                <a:latin typeface="Times New Roman" panose="02020603050405020304" pitchFamily="18" charset="0"/>
                <a:ea typeface="Calibri" pitchFamily="34" charset="-122"/>
                <a:cs typeface="Times New Roman" panose="02020603050405020304" pitchFamily="18" charset="0"/>
              </a:rPr>
              <a:t>.</a:t>
            </a:r>
          </a:p>
          <a:p>
            <a:endParaRPr lang="en-US" sz="1600" dirty="0">
              <a:latin typeface="Times New Roman" panose="02020603050405020304" pitchFamily="18" charset="0"/>
              <a:cs typeface="Times New Roman" panose="02020603050405020304" pitchFamily="18" charset="0"/>
            </a:endParaRPr>
          </a:p>
          <a:p>
            <a:r>
              <a:rPr lang="en-US" sz="1600" dirty="0">
                <a:solidFill>
                  <a:srgbClr val="222222"/>
                </a:solidFill>
                <a:latin typeface="Times New Roman" panose="02020603050405020304" pitchFamily="18" charset="0"/>
                <a:ea typeface="Calibri" pitchFamily="34" charset="-122"/>
                <a:cs typeface="Times New Roman" panose="02020603050405020304" pitchFamily="18" charset="0"/>
              </a:rPr>
              <a:t>Because of this:</a:t>
            </a:r>
            <a:endParaRPr lang="en-US" sz="1600" dirty="0">
              <a:latin typeface="Times New Roman" panose="02020603050405020304" pitchFamily="18" charset="0"/>
              <a:cs typeface="Times New Roman" panose="02020603050405020304" pitchFamily="18" charset="0"/>
            </a:endParaRPr>
          </a:p>
          <a:p>
            <a:pPr marL="342900" indent="-342900">
              <a:spcAft>
                <a:spcPts val="400"/>
              </a:spcAft>
              <a:buSzPct val="100000"/>
              <a:buChar char="•"/>
            </a:pPr>
            <a:r>
              <a:rPr lang="en-US" sz="1400" dirty="0"/>
              <a:t>The efficiency crossover point between Pandas and </a:t>
            </a:r>
            <a:r>
              <a:rPr lang="en-US" sz="1400" dirty="0" err="1"/>
              <a:t>PySpark</a:t>
            </a:r>
            <a:r>
              <a:rPr lang="en-US" sz="1400" dirty="0"/>
              <a:t> is unclear</a:t>
            </a:r>
          </a:p>
          <a:p>
            <a:pPr marL="342900" indent="-342900">
              <a:spcAft>
                <a:spcPts val="400"/>
              </a:spcAft>
              <a:buSzPct val="100000"/>
              <a:buChar char="•"/>
            </a:pPr>
            <a:r>
              <a:rPr lang="en-US" sz="1400" dirty="0"/>
              <a:t>Large datasets create scalability and memory challenges</a:t>
            </a:r>
          </a:p>
          <a:p>
            <a:pPr marL="342900" indent="-342900">
              <a:spcAft>
                <a:spcPts val="400"/>
              </a:spcAft>
              <a:buSzPct val="100000"/>
              <a:buChar char="•"/>
            </a:pPr>
            <a:r>
              <a:rPr lang="en-US" sz="1400" dirty="0"/>
              <a:t>Existing studies lack detailed stage-wise ETL analysis</a:t>
            </a:r>
          </a:p>
          <a:p>
            <a:pPr>
              <a:spcAft>
                <a:spcPts val="400"/>
              </a:spcAft>
              <a:buSzPct val="100000"/>
            </a:pPr>
            <a:endParaRPr lang="en-US" sz="1600" dirty="0">
              <a:latin typeface="Times New Roman" panose="02020603050405020304" pitchFamily="18" charset="0"/>
              <a:cs typeface="Times New Roman" panose="02020603050405020304" pitchFamily="18" charset="0"/>
            </a:endParaRPr>
          </a:p>
          <a:p>
            <a:r>
              <a:rPr lang="en-US" dirty="0"/>
              <a:t>This research compares both frameworks across ETL stages using datasets from 10K to 10M rows.</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4107853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1EB2EE-CEEA-A4EC-4F3B-60BA601304FE}"/>
              </a:ext>
            </a:extLst>
          </p:cNvPr>
          <p:cNvSpPr>
            <a:spLocks noGrp="1"/>
          </p:cNvSpPr>
          <p:nvPr>
            <p:ph type="title"/>
          </p:nvPr>
        </p:nvSpPr>
        <p:spPr/>
        <p:txBody>
          <a:bodyPr/>
          <a:lstStyle/>
          <a:p>
            <a:pPr algn="ctr"/>
            <a:r>
              <a:rPr lang="en-IN" sz="3200" dirty="0">
                <a:latin typeface="Times New Roman" panose="02020603050405020304" pitchFamily="18" charset="0"/>
                <a:cs typeface="Times New Roman" panose="02020603050405020304" pitchFamily="18" charset="0"/>
              </a:rPr>
              <a:t>Objectives</a:t>
            </a:r>
          </a:p>
        </p:txBody>
      </p:sp>
      <p:sp>
        <p:nvSpPr>
          <p:cNvPr id="4" name="TextBox 3">
            <a:extLst>
              <a:ext uri="{FF2B5EF4-FFF2-40B4-BE49-F238E27FC236}">
                <a16:creationId xmlns:a16="http://schemas.microsoft.com/office/drawing/2014/main" id="{8703D4B9-FA7B-FC16-96DA-CEA570BE0BAC}"/>
              </a:ext>
            </a:extLst>
          </p:cNvPr>
          <p:cNvSpPr txBox="1"/>
          <p:nvPr/>
        </p:nvSpPr>
        <p:spPr>
          <a:xfrm>
            <a:off x="546460" y="1794294"/>
            <a:ext cx="7657261" cy="2082621"/>
          </a:xfrm>
          <a:prstGeom prst="rect">
            <a:avLst/>
          </a:prstGeom>
          <a:noFill/>
        </p:spPr>
        <p:txBody>
          <a:bodyPr wrap="square" rtlCol="0">
            <a:spAutoFit/>
          </a:bodyPr>
          <a:lstStyle/>
          <a:p>
            <a:r>
              <a:rPr lang="en-US" sz="1600" dirty="0">
                <a:solidFill>
                  <a:srgbClr val="222222"/>
                </a:solidFill>
                <a:latin typeface="Times New Roman" panose="02020603050405020304" pitchFamily="18" charset="0"/>
                <a:ea typeface="Calibri" pitchFamily="34" charset="-122"/>
                <a:cs typeface="Times New Roman" panose="02020603050405020304" pitchFamily="18" charset="0"/>
              </a:rPr>
              <a:t>The main goals of this study were:</a:t>
            </a:r>
          </a:p>
          <a:p>
            <a:endParaRPr lang="en-US" sz="1600" dirty="0">
              <a:latin typeface="Times New Roman" panose="02020603050405020304" pitchFamily="18" charset="0"/>
              <a:cs typeface="Times New Roman" panose="02020603050405020304" pitchFamily="18" charset="0"/>
            </a:endParaRPr>
          </a:p>
          <a:p>
            <a:pPr marL="342900" indent="-342900">
              <a:spcAft>
                <a:spcPts val="400"/>
              </a:spcAft>
              <a:buSzPct val="100000"/>
              <a:buChar char="•"/>
            </a:pPr>
            <a:r>
              <a:rPr lang="en-US" sz="1400" dirty="0"/>
              <a:t>Compare the performance of Pandas and </a:t>
            </a:r>
            <a:r>
              <a:rPr lang="en-US" sz="1400" dirty="0" err="1"/>
              <a:t>PySpark</a:t>
            </a:r>
            <a:r>
              <a:rPr lang="en-US" sz="1400" dirty="0"/>
              <a:t> across ETL and analytics stages</a:t>
            </a:r>
          </a:p>
          <a:p>
            <a:pPr marL="342900" indent="-342900">
              <a:spcAft>
                <a:spcPts val="400"/>
              </a:spcAft>
              <a:buSzPct val="100000"/>
              <a:buChar char="•"/>
            </a:pPr>
            <a:r>
              <a:rPr lang="en-US" sz="1400" dirty="0"/>
              <a:t>Analyze execution time, memory usage, and scalability on datasets from 10K to 10M rows</a:t>
            </a:r>
          </a:p>
          <a:p>
            <a:pPr marL="342900" indent="-342900">
              <a:spcAft>
                <a:spcPts val="400"/>
              </a:spcAft>
              <a:buSzPct val="100000"/>
              <a:buChar char="•"/>
            </a:pPr>
            <a:r>
              <a:rPr lang="en-US" sz="1400" dirty="0"/>
              <a:t>Identify the stage-wise bottlenecks affecting ETL pipeline performance</a:t>
            </a:r>
          </a:p>
          <a:p>
            <a:pPr marL="342900" indent="-342900">
              <a:spcAft>
                <a:spcPts val="400"/>
              </a:spcAft>
              <a:buSzPct val="100000"/>
              <a:buChar char="•"/>
            </a:pPr>
            <a:r>
              <a:rPr lang="en-US" sz="1400" dirty="0"/>
              <a:t>Determine the data size at which </a:t>
            </a:r>
            <a:r>
              <a:rPr lang="en-US" sz="1400" dirty="0" err="1"/>
              <a:t>PySpark</a:t>
            </a:r>
            <a:r>
              <a:rPr lang="en-US" sz="1400" dirty="0"/>
              <a:t> becomes more efficient than Pandas</a:t>
            </a:r>
          </a:p>
          <a:p>
            <a:pPr marL="342900" indent="-342900">
              <a:spcAft>
                <a:spcPts val="400"/>
              </a:spcAft>
              <a:buSzPct val="100000"/>
              <a:buChar char="•"/>
            </a:pPr>
            <a:r>
              <a:rPr lang="en-US" sz="1400" dirty="0"/>
              <a:t>Provide practical guidance for selecting the appropriate framework for real-world big data processing tasks</a:t>
            </a:r>
            <a:endParaRPr lang="en-US" sz="1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8823357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6C300A-180D-4E8A-5E7A-3C7415EEE16C}"/>
              </a:ext>
            </a:extLst>
          </p:cNvPr>
          <p:cNvSpPr>
            <a:spLocks noGrp="1"/>
          </p:cNvSpPr>
          <p:nvPr>
            <p:ph type="title"/>
          </p:nvPr>
        </p:nvSpPr>
        <p:spPr/>
        <p:txBody>
          <a:bodyPr/>
          <a:lstStyle/>
          <a:p>
            <a:pPr algn="ctr"/>
            <a:r>
              <a:rPr lang="en-IN" sz="3200" dirty="0">
                <a:latin typeface="Times New Roman" panose="02020603050405020304" pitchFamily="18" charset="0"/>
                <a:cs typeface="Times New Roman" panose="02020603050405020304" pitchFamily="18" charset="0"/>
              </a:rPr>
              <a:t>Methodology Overview</a:t>
            </a:r>
            <a:endParaRPr lang="en-US" sz="3200"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32D2BBF3-9CB5-8D2A-6D15-F4596DF94EA1}"/>
              </a:ext>
            </a:extLst>
          </p:cNvPr>
          <p:cNvSpPr>
            <a:spLocks noGrp="1"/>
          </p:cNvSpPr>
          <p:nvPr>
            <p:ph type="subTitle"/>
          </p:nvPr>
        </p:nvSpPr>
        <p:spPr>
          <a:xfrm>
            <a:off x="349372" y="1100338"/>
            <a:ext cx="8229240" cy="3977280"/>
          </a:xfrm>
        </p:spPr>
        <p:txBody>
          <a:bodyPr/>
          <a:lstStyle/>
          <a:p>
            <a:r>
              <a:rPr lang="en-US" sz="1400" dirty="0"/>
              <a:t>The study implemented identical ETL and analytics pipelines in Pandas and </a:t>
            </a:r>
            <a:r>
              <a:rPr lang="en-US" sz="1400" dirty="0" err="1"/>
              <a:t>PySpark</a:t>
            </a:r>
            <a:r>
              <a:rPr lang="en-US" sz="1400" dirty="0"/>
              <a:t> to ensure fair comparison across different dataset sizes. Synthetic datasets ranging from 10K to 10M rows were generated using the Faker library and processed through four stages: Extract, Transform, Load, and Analytics.</a:t>
            </a:r>
          </a:p>
          <a:p>
            <a:endParaRPr lang="en-US" sz="1400" dirty="0"/>
          </a:p>
          <a:p>
            <a:r>
              <a:rPr lang="en-IN" sz="1400" dirty="0"/>
              <a:t>The methodology included:</a:t>
            </a:r>
            <a:endParaRPr lang="en-US" sz="1400" dirty="0"/>
          </a:p>
          <a:p>
            <a:endParaRPr lang="en-US" sz="1400" dirty="0">
              <a:latin typeface="Times New Roman" panose="02020603050405020304" pitchFamily="18" charset="0"/>
              <a:cs typeface="Times New Roman" panose="02020603050405020304" pitchFamily="18" charset="0"/>
            </a:endParaRPr>
          </a:p>
          <a:p>
            <a:pPr marL="342900" indent="-342900">
              <a:spcAft>
                <a:spcPts val="400"/>
              </a:spcAft>
              <a:buSzPct val="100000"/>
              <a:buChar char="•"/>
            </a:pPr>
            <a:r>
              <a:rPr lang="en-US" sz="1400" dirty="0"/>
              <a:t>CSV datasets generated with realistic transaction-based records using Faker</a:t>
            </a:r>
          </a:p>
          <a:p>
            <a:pPr marL="342900" indent="-342900">
              <a:spcAft>
                <a:spcPts val="400"/>
              </a:spcAft>
              <a:buSzPct val="100000"/>
              <a:buChar char="•"/>
            </a:pPr>
            <a:r>
              <a:rPr lang="en-US" sz="1400" dirty="0"/>
              <a:t>Data preprocessing including duplicate removal, null handling, type conversion, and revenue calculation</a:t>
            </a:r>
          </a:p>
          <a:p>
            <a:pPr marL="342900" indent="-342900">
              <a:spcAft>
                <a:spcPts val="400"/>
              </a:spcAft>
              <a:buSzPct val="100000"/>
              <a:buChar char="•"/>
            </a:pPr>
            <a:r>
              <a:rPr lang="en-US" sz="1400" dirty="0"/>
              <a:t>Execution time measured separately for Extract, Transform, Load, and Analytics stages</a:t>
            </a:r>
          </a:p>
          <a:p>
            <a:pPr marL="342900" indent="-342900">
              <a:spcAft>
                <a:spcPts val="400"/>
              </a:spcAft>
              <a:buSzPct val="100000"/>
              <a:buChar char="•"/>
            </a:pPr>
            <a:r>
              <a:rPr lang="en-US" sz="1400" dirty="0"/>
              <a:t>Memory utilization monitored using RSS-based profiling during execution</a:t>
            </a:r>
          </a:p>
          <a:p>
            <a:pPr marL="342900" indent="-342900">
              <a:spcAft>
                <a:spcPts val="400"/>
              </a:spcAft>
              <a:buSzPct val="100000"/>
              <a:buChar char="•"/>
            </a:pPr>
            <a:r>
              <a:rPr lang="en-US" sz="1400" dirty="0"/>
              <a:t>Performance comparison based on execution time, scalability, and memory efficiency across all dataset sizes</a:t>
            </a:r>
            <a:endParaRPr lang="en-US" sz="1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0255123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FEDB09-F1A5-0BC3-8EEF-3C5C066001CD}"/>
              </a:ext>
            </a:extLst>
          </p:cNvPr>
          <p:cNvSpPr>
            <a:spLocks noGrp="1"/>
          </p:cNvSpPr>
          <p:nvPr>
            <p:ph type="title"/>
          </p:nvPr>
        </p:nvSpPr>
        <p:spPr/>
        <p:txBody>
          <a:bodyPr/>
          <a:lstStyle/>
          <a:p>
            <a:pPr algn="ctr"/>
            <a:r>
              <a:rPr lang="en-IN" sz="3200" dirty="0">
                <a:latin typeface="Times New Roman" panose="02020603050405020304" pitchFamily="18" charset="0"/>
                <a:cs typeface="Times New Roman" panose="02020603050405020304" pitchFamily="18" charset="0"/>
              </a:rPr>
              <a:t>Methodology (Detailed Flow)</a:t>
            </a:r>
            <a:endParaRPr lang="en-US" sz="3200" dirty="0"/>
          </a:p>
        </p:txBody>
      </p:sp>
      <p:sp>
        <p:nvSpPr>
          <p:cNvPr id="3" name="Subtitle 2">
            <a:extLst>
              <a:ext uri="{FF2B5EF4-FFF2-40B4-BE49-F238E27FC236}">
                <a16:creationId xmlns:a16="http://schemas.microsoft.com/office/drawing/2014/main" id="{BE5F62DB-F4D6-ACFB-1033-0DB457785A8A}"/>
              </a:ext>
            </a:extLst>
          </p:cNvPr>
          <p:cNvSpPr>
            <a:spLocks noGrp="1"/>
          </p:cNvSpPr>
          <p:nvPr>
            <p:ph type="subTitle"/>
          </p:nvPr>
        </p:nvSpPr>
        <p:spPr>
          <a:xfrm>
            <a:off x="384950" y="1108088"/>
            <a:ext cx="3501025" cy="3977280"/>
          </a:xfrm>
        </p:spPr>
        <p:txBody>
          <a:bodyPr/>
          <a:lstStyle/>
          <a:p>
            <a:r>
              <a:rPr lang="en-IN" sz="1600" b="1" dirty="0"/>
              <a:t>1. Dataset Generation</a:t>
            </a:r>
          </a:p>
          <a:p>
            <a:r>
              <a:rPr lang="en-IN" sz="1600" dirty="0"/>
              <a:t>• Synthetic datasets created using the Faker library</a:t>
            </a:r>
            <a:br>
              <a:rPr lang="en-IN" sz="1600" dirty="0"/>
            </a:br>
            <a:r>
              <a:rPr lang="en-IN" sz="1600" dirty="0"/>
              <a:t>• Dataset sizes: 10K, 100K, 1M, 5M, and 10M rows</a:t>
            </a:r>
            <a:br>
              <a:rPr lang="en-IN" sz="1600" dirty="0"/>
            </a:br>
            <a:endParaRPr lang="en-IN" sz="1600" dirty="0"/>
          </a:p>
        </p:txBody>
      </p:sp>
      <p:sp>
        <p:nvSpPr>
          <p:cNvPr id="4" name="Shape 9">
            <a:extLst>
              <a:ext uri="{FF2B5EF4-FFF2-40B4-BE49-F238E27FC236}">
                <a16:creationId xmlns:a16="http://schemas.microsoft.com/office/drawing/2014/main" id="{90EE1BE3-49A1-7F5E-2893-F190DEC76AC1}"/>
              </a:ext>
            </a:extLst>
          </p:cNvPr>
          <p:cNvSpPr/>
          <p:nvPr/>
        </p:nvSpPr>
        <p:spPr>
          <a:xfrm>
            <a:off x="4263717" y="2079829"/>
            <a:ext cx="36576" cy="3200400"/>
          </a:xfrm>
          <a:prstGeom prst="rect">
            <a:avLst/>
          </a:prstGeom>
          <a:solidFill>
            <a:srgbClr val="CCCCCC"/>
          </a:solidFill>
          <a:ln w="12700">
            <a:solidFill>
              <a:srgbClr val="CCCCCC"/>
            </a:solidFill>
            <a:prstDash val="solid"/>
          </a:ln>
        </p:spPr>
        <p:txBody>
          <a:bodyPr/>
          <a:lstStyle/>
          <a:p>
            <a:endParaRPr lang="en-US"/>
          </a:p>
        </p:txBody>
      </p:sp>
      <p:sp>
        <p:nvSpPr>
          <p:cNvPr id="5" name="TextBox 4">
            <a:extLst>
              <a:ext uri="{FF2B5EF4-FFF2-40B4-BE49-F238E27FC236}">
                <a16:creationId xmlns:a16="http://schemas.microsoft.com/office/drawing/2014/main" id="{517622C2-B186-D56C-3365-5BB7A9402B25}"/>
              </a:ext>
            </a:extLst>
          </p:cNvPr>
          <p:cNvSpPr txBox="1"/>
          <p:nvPr/>
        </p:nvSpPr>
        <p:spPr>
          <a:xfrm>
            <a:off x="4435810" y="2296509"/>
            <a:ext cx="4524965" cy="1846659"/>
          </a:xfrm>
          <a:prstGeom prst="rect">
            <a:avLst/>
          </a:prstGeom>
          <a:noFill/>
        </p:spPr>
        <p:txBody>
          <a:bodyPr wrap="square" rtlCol="0">
            <a:spAutoFit/>
          </a:bodyPr>
          <a:lstStyle/>
          <a:p>
            <a:r>
              <a:rPr lang="en-US" sz="1600" b="1" dirty="0"/>
              <a:t>2. Extract Stage</a:t>
            </a:r>
          </a:p>
          <a:p>
            <a:r>
              <a:rPr lang="en-US" sz="1600" dirty="0"/>
              <a:t>• CSV datasets loaded into </a:t>
            </a:r>
            <a:r>
              <a:rPr lang="en-US" sz="1600" dirty="0" err="1"/>
              <a:t>DataFrames</a:t>
            </a:r>
            <a:br>
              <a:rPr lang="en-US" sz="1600" dirty="0"/>
            </a:br>
            <a:r>
              <a:rPr lang="en-US" sz="1600" dirty="0"/>
              <a:t>• Pandas processed data sequentially</a:t>
            </a:r>
            <a:br>
              <a:rPr lang="en-US" sz="1600" dirty="0"/>
            </a:br>
            <a:r>
              <a:rPr lang="en-US" sz="1600" dirty="0"/>
              <a:t>• </a:t>
            </a:r>
            <a:r>
              <a:rPr lang="en-US" sz="1600" dirty="0" err="1"/>
              <a:t>PySpark</a:t>
            </a:r>
            <a:r>
              <a:rPr lang="en-US" sz="1600" dirty="0"/>
              <a:t> processed data in parallel using distributed execution</a:t>
            </a:r>
          </a:p>
          <a:p>
            <a:endParaRPr lang="en-US" sz="1600" dirty="0"/>
          </a:p>
          <a:p>
            <a:endParaRPr lang="en-US" dirty="0"/>
          </a:p>
        </p:txBody>
      </p:sp>
      <p:sp>
        <p:nvSpPr>
          <p:cNvPr id="6" name="TextBox 5">
            <a:extLst>
              <a:ext uri="{FF2B5EF4-FFF2-40B4-BE49-F238E27FC236}">
                <a16:creationId xmlns:a16="http://schemas.microsoft.com/office/drawing/2014/main" id="{860A5515-5216-082D-99E5-2EF40B1BF6B2}"/>
              </a:ext>
            </a:extLst>
          </p:cNvPr>
          <p:cNvSpPr txBox="1"/>
          <p:nvPr/>
        </p:nvSpPr>
        <p:spPr>
          <a:xfrm>
            <a:off x="318744" y="4143168"/>
            <a:ext cx="3908397" cy="2092881"/>
          </a:xfrm>
          <a:prstGeom prst="rect">
            <a:avLst/>
          </a:prstGeom>
          <a:noFill/>
        </p:spPr>
        <p:txBody>
          <a:bodyPr wrap="square" rtlCol="0">
            <a:spAutoFit/>
          </a:bodyPr>
          <a:lstStyle/>
          <a:p>
            <a:r>
              <a:rPr lang="en-IN" sz="1600" b="1" dirty="0"/>
              <a:t>3. Transform Stage</a:t>
            </a:r>
          </a:p>
          <a:p>
            <a:r>
              <a:rPr lang="en-IN" sz="1600" dirty="0"/>
              <a:t>• Removed duplicate records</a:t>
            </a:r>
            <a:br>
              <a:rPr lang="en-IN" sz="1600" dirty="0"/>
            </a:br>
            <a:r>
              <a:rPr lang="en-IN" sz="1600" dirty="0"/>
              <a:t>• Handled missing/null values</a:t>
            </a:r>
            <a:br>
              <a:rPr lang="en-IN" sz="1600" dirty="0"/>
            </a:br>
            <a:r>
              <a:rPr lang="en-IN" sz="1600" dirty="0"/>
              <a:t>• Standardized string formats and validated data types</a:t>
            </a:r>
            <a:br>
              <a:rPr lang="en-IN" sz="1600" dirty="0"/>
            </a:br>
            <a:endParaRPr lang="en-IN" sz="1600" dirty="0"/>
          </a:p>
          <a:p>
            <a:endParaRPr lang="en-US" sz="1600" dirty="0"/>
          </a:p>
          <a:p>
            <a:endParaRPr lang="en-US" dirty="0"/>
          </a:p>
        </p:txBody>
      </p:sp>
      <p:sp>
        <p:nvSpPr>
          <p:cNvPr id="7" name="TextBox 6">
            <a:extLst>
              <a:ext uri="{FF2B5EF4-FFF2-40B4-BE49-F238E27FC236}">
                <a16:creationId xmlns:a16="http://schemas.microsoft.com/office/drawing/2014/main" id="{AB7BA129-2E5A-F952-0EE3-B13FE5588D3C}"/>
              </a:ext>
            </a:extLst>
          </p:cNvPr>
          <p:cNvSpPr txBox="1"/>
          <p:nvPr/>
        </p:nvSpPr>
        <p:spPr>
          <a:xfrm>
            <a:off x="4571327" y="4162038"/>
            <a:ext cx="4524965" cy="1600438"/>
          </a:xfrm>
          <a:prstGeom prst="rect">
            <a:avLst/>
          </a:prstGeom>
          <a:noFill/>
        </p:spPr>
        <p:txBody>
          <a:bodyPr wrap="square" rtlCol="0">
            <a:spAutoFit/>
          </a:bodyPr>
          <a:lstStyle/>
          <a:p>
            <a:r>
              <a:rPr lang="en-US" sz="1600" b="1" dirty="0"/>
              <a:t>4. Load Stage</a:t>
            </a:r>
          </a:p>
          <a:p>
            <a:r>
              <a:rPr lang="en-US" sz="1600" dirty="0"/>
              <a:t>• Cleaned datasets stored in Apache Parquet format with Snappy compression</a:t>
            </a:r>
            <a:br>
              <a:rPr lang="en-US" sz="1600" dirty="0"/>
            </a:br>
            <a:r>
              <a:rPr lang="en-US" sz="1600" dirty="0"/>
              <a:t>• Write performance measured for both frameworks</a:t>
            </a:r>
          </a:p>
          <a:p>
            <a:endParaRPr lang="en-US" dirty="0"/>
          </a:p>
        </p:txBody>
      </p:sp>
    </p:spTree>
    <p:extLst>
      <p:ext uri="{BB962C8B-B14F-4D97-AF65-F5344CB8AC3E}">
        <p14:creationId xmlns:p14="http://schemas.microsoft.com/office/powerpoint/2010/main" val="131412756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75BC95-EB5F-A783-0BEE-9DDC082AC4B0}"/>
              </a:ext>
            </a:extLst>
          </p:cNvPr>
          <p:cNvSpPr>
            <a:spLocks noGrp="1"/>
          </p:cNvSpPr>
          <p:nvPr>
            <p:ph type="title"/>
          </p:nvPr>
        </p:nvSpPr>
        <p:spPr/>
        <p:txBody>
          <a:bodyPr/>
          <a:lstStyle/>
          <a:p>
            <a:pPr algn="ctr"/>
            <a:r>
              <a:rPr lang="en-IN" sz="3200" dirty="0">
                <a:latin typeface="Times New Roman" panose="02020603050405020304" pitchFamily="18" charset="0"/>
                <a:cs typeface="Times New Roman" panose="02020603050405020304" pitchFamily="18" charset="0"/>
              </a:rPr>
              <a:t>Tools and Technologies</a:t>
            </a:r>
            <a:endParaRPr lang="en-US" sz="3200"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A5ADC1D0-593F-93A1-A9BE-4B6DE8A85FB9}"/>
              </a:ext>
            </a:extLst>
          </p:cNvPr>
          <p:cNvSpPr txBox="1"/>
          <p:nvPr/>
        </p:nvSpPr>
        <p:spPr>
          <a:xfrm>
            <a:off x="451821" y="1420009"/>
            <a:ext cx="6603090" cy="3077766"/>
          </a:xfrm>
          <a:prstGeom prst="rect">
            <a:avLst/>
          </a:prstGeom>
          <a:noFill/>
        </p:spPr>
        <p:txBody>
          <a:bodyPr wrap="none" rtlCol="0">
            <a:spAutoFit/>
          </a:bodyPr>
          <a:lstStyle/>
          <a:p>
            <a:r>
              <a:rPr lang="en-US" sz="1600" dirty="0">
                <a:solidFill>
                  <a:srgbClr val="222222"/>
                </a:solidFill>
                <a:latin typeface="Times New Roman" panose="02020603050405020304" pitchFamily="18" charset="0"/>
                <a:ea typeface="Calibri" pitchFamily="34" charset="-122"/>
                <a:cs typeface="Times New Roman" panose="02020603050405020304" pitchFamily="18" charset="0"/>
              </a:rPr>
              <a:t>The following tools and technologies were used:</a:t>
            </a:r>
            <a:endParaRPr lang="en-US" sz="1600" dirty="0">
              <a:latin typeface="Times New Roman" panose="02020603050405020304" pitchFamily="18" charset="0"/>
              <a:cs typeface="Times New Roman" panose="02020603050405020304" pitchFamily="18" charset="0"/>
            </a:endParaRPr>
          </a:p>
          <a:p>
            <a:endParaRPr lang="en-IN" sz="1600" b="1"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1600" b="1" dirty="0">
                <a:solidFill>
                  <a:srgbClr val="222222"/>
                </a:solidFill>
                <a:latin typeface="Times New Roman" panose="02020603050405020304" pitchFamily="18" charset="0"/>
                <a:ea typeface="Calibri" pitchFamily="34" charset="-122"/>
                <a:cs typeface="Times New Roman" panose="02020603050405020304" pitchFamily="18" charset="0"/>
              </a:rPr>
              <a:t>Python 3.10 – </a:t>
            </a:r>
            <a:r>
              <a:rPr lang="en-US" sz="1600" dirty="0">
                <a:solidFill>
                  <a:srgbClr val="222222"/>
                </a:solidFill>
                <a:latin typeface="Times New Roman" panose="02020603050405020304" pitchFamily="18" charset="0"/>
                <a:ea typeface="Calibri" pitchFamily="34" charset="-122"/>
                <a:cs typeface="Times New Roman" panose="02020603050405020304" pitchFamily="18" charset="0"/>
              </a:rPr>
              <a:t>core programming language for the ML pipeline</a:t>
            </a:r>
            <a:endParaRPr lang="en-US" sz="16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1600" b="1" dirty="0">
                <a:solidFill>
                  <a:srgbClr val="222222"/>
                </a:solidFill>
                <a:latin typeface="Times New Roman" panose="02020603050405020304" pitchFamily="18" charset="0"/>
                <a:ea typeface="Calibri" pitchFamily="34" charset="-122"/>
                <a:cs typeface="Times New Roman" panose="02020603050405020304" pitchFamily="18" charset="0"/>
              </a:rPr>
              <a:t>Scikit-learn – </a:t>
            </a:r>
            <a:r>
              <a:rPr lang="en-US" sz="1600" dirty="0">
                <a:solidFill>
                  <a:srgbClr val="222222"/>
                </a:solidFill>
                <a:latin typeface="Times New Roman" panose="02020603050405020304" pitchFamily="18" charset="0"/>
                <a:ea typeface="Calibri" pitchFamily="34" charset="-122"/>
                <a:cs typeface="Times New Roman" panose="02020603050405020304" pitchFamily="18" charset="0"/>
              </a:rPr>
              <a:t>Logistic Regression, Random Forest, SVM implementation</a:t>
            </a:r>
            <a:endParaRPr lang="en-US" sz="16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1600" b="1" dirty="0">
                <a:solidFill>
                  <a:srgbClr val="222222"/>
                </a:solidFill>
                <a:latin typeface="Times New Roman" panose="02020603050405020304" pitchFamily="18" charset="0"/>
                <a:ea typeface="Calibri" pitchFamily="34" charset="-122"/>
                <a:cs typeface="Times New Roman" panose="02020603050405020304" pitchFamily="18" charset="0"/>
              </a:rPr>
              <a:t>Pandas &amp; NumPy – </a:t>
            </a:r>
            <a:r>
              <a:rPr lang="en-US" sz="1600" dirty="0">
                <a:solidFill>
                  <a:srgbClr val="222222"/>
                </a:solidFill>
                <a:latin typeface="Times New Roman" panose="02020603050405020304" pitchFamily="18" charset="0"/>
                <a:ea typeface="Calibri" pitchFamily="34" charset="-122"/>
                <a:cs typeface="Times New Roman" panose="02020603050405020304" pitchFamily="18" charset="0"/>
              </a:rPr>
              <a:t>data loading, preprocessing, and feature engineering</a:t>
            </a:r>
            <a:endParaRPr lang="en-US" sz="16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1600" b="1" dirty="0" err="1">
                <a:solidFill>
                  <a:srgbClr val="222222"/>
                </a:solidFill>
                <a:latin typeface="Times New Roman" panose="02020603050405020304" pitchFamily="18" charset="0"/>
                <a:ea typeface="Calibri" pitchFamily="34" charset="-122"/>
                <a:cs typeface="Times New Roman" panose="02020603050405020304" pitchFamily="18" charset="0"/>
              </a:rPr>
              <a:t>StandardScaler</a:t>
            </a:r>
            <a:r>
              <a:rPr lang="en-US" sz="1600" b="1" dirty="0">
                <a:solidFill>
                  <a:srgbClr val="222222"/>
                </a:solidFill>
                <a:latin typeface="Times New Roman" panose="02020603050405020304" pitchFamily="18" charset="0"/>
                <a:ea typeface="Calibri" pitchFamily="34" charset="-122"/>
                <a:cs typeface="Times New Roman" panose="02020603050405020304" pitchFamily="18" charset="0"/>
              </a:rPr>
              <a:t> – </a:t>
            </a:r>
            <a:r>
              <a:rPr lang="en-US" sz="1600" dirty="0">
                <a:solidFill>
                  <a:srgbClr val="222222"/>
                </a:solidFill>
                <a:latin typeface="Times New Roman" panose="02020603050405020304" pitchFamily="18" charset="0"/>
                <a:ea typeface="Calibri" pitchFamily="34" charset="-122"/>
                <a:cs typeface="Times New Roman" panose="02020603050405020304" pitchFamily="18" charset="0"/>
              </a:rPr>
              <a:t>feature </a:t>
            </a:r>
            <a:r>
              <a:rPr lang="en-US" sz="1600" dirty="0" err="1">
                <a:solidFill>
                  <a:srgbClr val="222222"/>
                </a:solidFill>
                <a:latin typeface="Times New Roman" panose="02020603050405020304" pitchFamily="18" charset="0"/>
                <a:ea typeface="Calibri" pitchFamily="34" charset="-122"/>
                <a:cs typeface="Times New Roman" panose="02020603050405020304" pitchFamily="18" charset="0"/>
              </a:rPr>
              <a:t>normalisation</a:t>
            </a:r>
            <a:r>
              <a:rPr lang="en-US" sz="1600" dirty="0">
                <a:solidFill>
                  <a:srgbClr val="222222"/>
                </a:solidFill>
                <a:latin typeface="Times New Roman" panose="02020603050405020304" pitchFamily="18" charset="0"/>
                <a:ea typeface="Calibri" pitchFamily="34" charset="-122"/>
                <a:cs typeface="Times New Roman" panose="02020603050405020304" pitchFamily="18" charset="0"/>
              </a:rPr>
              <a:t> before model training</a:t>
            </a:r>
            <a:endParaRPr lang="en-US" sz="16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1600" b="1" dirty="0">
                <a:solidFill>
                  <a:srgbClr val="222222"/>
                </a:solidFill>
                <a:latin typeface="Times New Roman" panose="02020603050405020304" pitchFamily="18" charset="0"/>
                <a:ea typeface="Calibri" pitchFamily="34" charset="-122"/>
                <a:cs typeface="Times New Roman" panose="02020603050405020304" pitchFamily="18" charset="0"/>
              </a:rPr>
              <a:t>Matplotlib &amp; Seaborn – </a:t>
            </a:r>
            <a:r>
              <a:rPr lang="en-US" sz="1600" dirty="0">
                <a:solidFill>
                  <a:srgbClr val="222222"/>
                </a:solidFill>
                <a:latin typeface="Times New Roman" panose="02020603050405020304" pitchFamily="18" charset="0"/>
                <a:ea typeface="Calibri" pitchFamily="34" charset="-122"/>
                <a:cs typeface="Times New Roman" panose="02020603050405020304" pitchFamily="18" charset="0"/>
              </a:rPr>
              <a:t>charts and </a:t>
            </a:r>
            <a:r>
              <a:rPr lang="en-US" sz="1600" dirty="0" err="1">
                <a:solidFill>
                  <a:srgbClr val="222222"/>
                </a:solidFill>
                <a:latin typeface="Times New Roman" panose="02020603050405020304" pitchFamily="18" charset="0"/>
                <a:ea typeface="Calibri" pitchFamily="34" charset="-122"/>
                <a:cs typeface="Times New Roman" panose="02020603050405020304" pitchFamily="18" charset="0"/>
              </a:rPr>
              <a:t>visualisations</a:t>
            </a:r>
            <a:r>
              <a:rPr lang="en-US" sz="1600" dirty="0">
                <a:solidFill>
                  <a:srgbClr val="222222"/>
                </a:solidFill>
                <a:latin typeface="Times New Roman" panose="02020603050405020304" pitchFamily="18" charset="0"/>
                <a:ea typeface="Calibri" pitchFamily="34" charset="-122"/>
                <a:cs typeface="Times New Roman" panose="02020603050405020304" pitchFamily="18" charset="0"/>
              </a:rPr>
              <a:t> for results</a:t>
            </a:r>
            <a:endParaRPr lang="en-US" sz="16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1600" b="1" dirty="0">
                <a:solidFill>
                  <a:srgbClr val="222222"/>
                </a:solidFill>
                <a:latin typeface="Times New Roman" panose="02020603050405020304" pitchFamily="18" charset="0"/>
                <a:ea typeface="Calibri" pitchFamily="34" charset="-122"/>
                <a:cs typeface="Times New Roman" panose="02020603050405020304" pitchFamily="18" charset="0"/>
              </a:rPr>
              <a:t>Google Forms – </a:t>
            </a:r>
            <a:r>
              <a:rPr lang="en-US" sz="1600" dirty="0">
                <a:solidFill>
                  <a:srgbClr val="222222"/>
                </a:solidFill>
                <a:latin typeface="Times New Roman" panose="02020603050405020304" pitchFamily="18" charset="0"/>
                <a:ea typeface="Calibri" pitchFamily="34" charset="-122"/>
                <a:cs typeface="Times New Roman" panose="02020603050405020304" pitchFamily="18" charset="0"/>
              </a:rPr>
              <a:t>primary data collection from 23 respondents</a:t>
            </a:r>
            <a:endParaRPr lang="en-US" sz="16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1600" b="1" dirty="0">
                <a:solidFill>
                  <a:srgbClr val="222222"/>
                </a:solidFill>
                <a:latin typeface="Times New Roman" panose="02020603050405020304" pitchFamily="18" charset="0"/>
                <a:ea typeface="Calibri" pitchFamily="34" charset="-122"/>
                <a:cs typeface="Times New Roman" panose="02020603050405020304" pitchFamily="18" charset="0"/>
              </a:rPr>
              <a:t>Google </a:t>
            </a:r>
            <a:r>
              <a:rPr lang="en-US" sz="1600" b="1" dirty="0" err="1">
                <a:solidFill>
                  <a:srgbClr val="222222"/>
                </a:solidFill>
                <a:latin typeface="Times New Roman" panose="02020603050405020304" pitchFamily="18" charset="0"/>
                <a:ea typeface="Calibri" pitchFamily="34" charset="-122"/>
                <a:cs typeface="Times New Roman" panose="02020603050405020304" pitchFamily="18" charset="0"/>
              </a:rPr>
              <a:t>Colab</a:t>
            </a:r>
            <a:r>
              <a:rPr lang="en-US" sz="1600" b="1" dirty="0">
                <a:solidFill>
                  <a:srgbClr val="222222"/>
                </a:solidFill>
                <a:latin typeface="Times New Roman" panose="02020603050405020304" pitchFamily="18" charset="0"/>
                <a:ea typeface="Calibri" pitchFamily="34" charset="-122"/>
                <a:cs typeface="Times New Roman" panose="02020603050405020304" pitchFamily="18" charset="0"/>
              </a:rPr>
              <a:t> – </a:t>
            </a:r>
            <a:r>
              <a:rPr lang="en-US" sz="1600" dirty="0">
                <a:solidFill>
                  <a:srgbClr val="222222"/>
                </a:solidFill>
                <a:latin typeface="Times New Roman" panose="02020603050405020304" pitchFamily="18" charset="0"/>
                <a:ea typeface="Calibri" pitchFamily="34" charset="-122"/>
                <a:cs typeface="Times New Roman" panose="02020603050405020304" pitchFamily="18" charset="0"/>
              </a:rPr>
              <a:t>cloud-based environment for running the pipeline</a:t>
            </a:r>
            <a:endParaRPr lang="en-US" sz="16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endParaRPr lang="en-IN" sz="1600" dirty="0">
              <a:latin typeface="Times New Roman" panose="02020603050405020304" pitchFamily="18" charset="0"/>
              <a:cs typeface="Times New Roman" panose="02020603050405020304" pitchFamily="18" charset="0"/>
            </a:endParaRPr>
          </a:p>
          <a:p>
            <a:endParaRPr lang="en-IN" sz="1600"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8839334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4E7F72-82F6-A44B-C793-8CE6A119DB6C}"/>
              </a:ext>
            </a:extLst>
          </p:cNvPr>
          <p:cNvSpPr>
            <a:spLocks noGrp="1"/>
          </p:cNvSpPr>
          <p:nvPr>
            <p:ph type="title"/>
          </p:nvPr>
        </p:nvSpPr>
        <p:spPr/>
        <p:txBody>
          <a:bodyPr/>
          <a:lstStyle/>
          <a:p>
            <a:pPr algn="ctr"/>
            <a:r>
              <a:rPr lang="en-IN" sz="3200" dirty="0"/>
              <a:t>Results</a:t>
            </a:r>
            <a:endParaRPr lang="en-US" sz="3200" dirty="0">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254A7F9E-0F1B-3006-B5C1-30BF6525AF36}"/>
              </a:ext>
            </a:extLst>
          </p:cNvPr>
          <p:cNvPicPr>
            <a:picLocks noChangeAspect="1"/>
          </p:cNvPicPr>
          <p:nvPr/>
        </p:nvPicPr>
        <p:blipFill>
          <a:blip r:embed="rId2"/>
          <a:stretch>
            <a:fillRect/>
          </a:stretch>
        </p:blipFill>
        <p:spPr>
          <a:xfrm>
            <a:off x="181601" y="1345869"/>
            <a:ext cx="4131607" cy="2562354"/>
          </a:xfrm>
          <a:prstGeom prst="rect">
            <a:avLst/>
          </a:prstGeom>
        </p:spPr>
      </p:pic>
      <p:pic>
        <p:nvPicPr>
          <p:cNvPr id="9" name="Picture 8">
            <a:extLst>
              <a:ext uri="{FF2B5EF4-FFF2-40B4-BE49-F238E27FC236}">
                <a16:creationId xmlns:a16="http://schemas.microsoft.com/office/drawing/2014/main" id="{60AE1A86-D1A6-709A-4B25-922A1790404E}"/>
              </a:ext>
            </a:extLst>
          </p:cNvPr>
          <p:cNvPicPr>
            <a:picLocks noChangeAspect="1"/>
          </p:cNvPicPr>
          <p:nvPr/>
        </p:nvPicPr>
        <p:blipFill>
          <a:blip r:embed="rId3"/>
          <a:stretch>
            <a:fillRect/>
          </a:stretch>
        </p:blipFill>
        <p:spPr>
          <a:xfrm>
            <a:off x="4572001" y="1345869"/>
            <a:ext cx="3485072" cy="2547271"/>
          </a:xfrm>
          <a:prstGeom prst="rect">
            <a:avLst/>
          </a:prstGeom>
        </p:spPr>
      </p:pic>
      <p:pic>
        <p:nvPicPr>
          <p:cNvPr id="11" name="Picture 10">
            <a:extLst>
              <a:ext uri="{FF2B5EF4-FFF2-40B4-BE49-F238E27FC236}">
                <a16:creationId xmlns:a16="http://schemas.microsoft.com/office/drawing/2014/main" id="{03DC55A4-ACAA-C850-DE75-B2C4A4AEC17C}"/>
              </a:ext>
            </a:extLst>
          </p:cNvPr>
          <p:cNvPicPr>
            <a:picLocks noChangeAspect="1"/>
          </p:cNvPicPr>
          <p:nvPr/>
        </p:nvPicPr>
        <p:blipFill>
          <a:blip r:embed="rId4"/>
          <a:stretch>
            <a:fillRect/>
          </a:stretch>
        </p:blipFill>
        <p:spPr>
          <a:xfrm>
            <a:off x="325958" y="3803698"/>
            <a:ext cx="3618605" cy="2803424"/>
          </a:xfrm>
          <a:prstGeom prst="rect">
            <a:avLst/>
          </a:prstGeom>
        </p:spPr>
      </p:pic>
      <p:pic>
        <p:nvPicPr>
          <p:cNvPr id="15" name="Picture 14">
            <a:extLst>
              <a:ext uri="{FF2B5EF4-FFF2-40B4-BE49-F238E27FC236}">
                <a16:creationId xmlns:a16="http://schemas.microsoft.com/office/drawing/2014/main" id="{8BCAE5D9-5AE9-3622-CA02-BEC7684C7ABD}"/>
              </a:ext>
            </a:extLst>
          </p:cNvPr>
          <p:cNvPicPr>
            <a:picLocks noChangeAspect="1"/>
          </p:cNvPicPr>
          <p:nvPr/>
        </p:nvPicPr>
        <p:blipFill>
          <a:blip r:embed="rId5"/>
          <a:stretch>
            <a:fillRect/>
          </a:stretch>
        </p:blipFill>
        <p:spPr>
          <a:xfrm>
            <a:off x="4402749" y="4015313"/>
            <a:ext cx="3823576" cy="2380193"/>
          </a:xfrm>
          <a:prstGeom prst="rect">
            <a:avLst/>
          </a:prstGeom>
        </p:spPr>
      </p:pic>
    </p:spTree>
    <p:extLst>
      <p:ext uri="{BB962C8B-B14F-4D97-AF65-F5344CB8AC3E}">
        <p14:creationId xmlns:p14="http://schemas.microsoft.com/office/powerpoint/2010/main" val="7509723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11F1B52-6190-768E-DA7B-D7312D36728D}"/>
              </a:ext>
            </a:extLst>
          </p:cNvPr>
          <p:cNvSpPr txBox="1"/>
          <p:nvPr/>
        </p:nvSpPr>
        <p:spPr>
          <a:xfrm>
            <a:off x="487392" y="1086928"/>
            <a:ext cx="8169215" cy="3970318"/>
          </a:xfrm>
          <a:prstGeom prst="rect">
            <a:avLst/>
          </a:prstGeom>
          <a:noFill/>
        </p:spPr>
        <p:txBody>
          <a:bodyPr wrap="square">
            <a:spAutoFit/>
          </a:bodyPr>
          <a:lstStyle/>
          <a:p>
            <a:r>
              <a:rPr lang="en-US" sz="1400" dirty="0"/>
              <a:t>The experimental evaluation showed significant differences between Pandas and </a:t>
            </a:r>
            <a:r>
              <a:rPr lang="en-US" sz="1400" dirty="0" err="1"/>
              <a:t>PySpark</a:t>
            </a:r>
            <a:r>
              <a:rPr lang="en-US" sz="1400" dirty="0"/>
              <a:t> in execution time and memory efficiency across different dataset sizes. At 10 million rows, Pandas completed the complete ETL pipeline in 102.0 seconds, while </a:t>
            </a:r>
            <a:r>
              <a:rPr lang="en-US" sz="1400" dirty="0" err="1"/>
              <a:t>PySpark</a:t>
            </a:r>
            <a:r>
              <a:rPr lang="en-US" sz="1400" dirty="0"/>
              <a:t> required 124.4 seconds. However, </a:t>
            </a:r>
            <a:r>
              <a:rPr lang="en-US" sz="1400" dirty="0" err="1"/>
              <a:t>PySpark</a:t>
            </a:r>
            <a:r>
              <a:rPr lang="en-US" sz="1400" dirty="0"/>
              <a:t> achieved much faster extraction performance, completing the Extract stage in 4.8 seconds compared to 34.9 seconds for Pandas, making it 7.2× faster. </a:t>
            </a:r>
          </a:p>
          <a:p>
            <a:endParaRPr lang="en-US" sz="1400" dirty="0"/>
          </a:p>
          <a:p>
            <a:r>
              <a:rPr lang="en-US" sz="1400" dirty="0"/>
              <a:t>Because of this:</a:t>
            </a:r>
          </a:p>
          <a:p>
            <a:endParaRPr lang="en-US" sz="1400" dirty="0"/>
          </a:p>
          <a:p>
            <a:r>
              <a:rPr lang="en-US" sz="1400" dirty="0"/>
              <a:t>• </a:t>
            </a:r>
            <a:r>
              <a:rPr lang="en-US" sz="1400" dirty="0" err="1"/>
              <a:t>PySpark</a:t>
            </a:r>
            <a:r>
              <a:rPr lang="en-US" sz="1400" dirty="0"/>
              <a:t> was 7.2× faster in the Extract stage due to parallel CSV processing</a:t>
            </a:r>
            <a:br>
              <a:rPr lang="en-US" sz="1400" dirty="0"/>
            </a:br>
            <a:r>
              <a:rPr lang="en-US" sz="1400" dirty="0"/>
              <a:t>• Pandas performed better in Transform, Load, and Analytics stages on datasets up to 10M rows</a:t>
            </a:r>
            <a:br>
              <a:rPr lang="en-US" sz="1400" dirty="0"/>
            </a:br>
            <a:r>
              <a:rPr lang="en-US" sz="1400" dirty="0"/>
              <a:t>• The Transform stage became the major bottleneck for </a:t>
            </a:r>
            <a:r>
              <a:rPr lang="en-US" sz="1400" dirty="0" err="1"/>
              <a:t>PySpark</a:t>
            </a:r>
            <a:r>
              <a:rPr lang="en-US" sz="1400" dirty="0"/>
              <a:t> because of shuffle and Python-JVM overhead</a:t>
            </a:r>
            <a:br>
              <a:rPr lang="en-US" sz="1400" dirty="0"/>
            </a:br>
            <a:r>
              <a:rPr lang="en-US" sz="1400" dirty="0"/>
              <a:t>• </a:t>
            </a:r>
            <a:r>
              <a:rPr lang="en-US" sz="1400" dirty="0" err="1"/>
              <a:t>PySpark</a:t>
            </a:r>
            <a:r>
              <a:rPr lang="en-US" sz="1400" dirty="0"/>
              <a:t> used only 145.6 MB memory at 10M rows compared to 1400.9 MB used by Pandas</a:t>
            </a:r>
            <a:br>
              <a:rPr lang="en-US" sz="1400" dirty="0"/>
            </a:br>
            <a:r>
              <a:rPr lang="en-US" sz="1400" dirty="0"/>
              <a:t>• Memory usage was reduced by 89.6% in </a:t>
            </a:r>
            <a:r>
              <a:rPr lang="en-US" sz="1400" dirty="0" err="1"/>
              <a:t>PySpark</a:t>
            </a:r>
            <a:r>
              <a:rPr lang="en-US" sz="1400" dirty="0"/>
              <a:t>, making it more scalable for very large datasets </a:t>
            </a:r>
          </a:p>
          <a:p>
            <a:endParaRPr lang="en-US" sz="1400" dirty="0"/>
          </a:p>
          <a:p>
            <a:r>
              <a:rPr lang="en-US" sz="1400" dirty="0"/>
              <a:t>The results indicate that Pandas is faster for moderate-sized datasets on a single machine, while </a:t>
            </a:r>
            <a:r>
              <a:rPr lang="en-US" sz="1400" dirty="0" err="1"/>
              <a:t>PySpark</a:t>
            </a:r>
            <a:r>
              <a:rPr lang="en-US" sz="1400" dirty="0"/>
              <a:t> becomes more practical for large-scale workloads where memory efficiency, scalability, and distributed processing are more important than total execution time.</a:t>
            </a:r>
          </a:p>
        </p:txBody>
      </p:sp>
    </p:spTree>
    <p:extLst>
      <p:ext uri="{BB962C8B-B14F-4D97-AF65-F5344CB8AC3E}">
        <p14:creationId xmlns:p14="http://schemas.microsoft.com/office/powerpoint/2010/main" val="17940559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4C4B69-E999-8624-7E0F-51B5883BFF4E}"/>
              </a:ext>
            </a:extLst>
          </p:cNvPr>
          <p:cNvSpPr>
            <a:spLocks noGrp="1"/>
          </p:cNvSpPr>
          <p:nvPr>
            <p:ph type="title"/>
          </p:nvPr>
        </p:nvSpPr>
        <p:spPr/>
        <p:txBody>
          <a:bodyPr/>
          <a:lstStyle/>
          <a:p>
            <a:pPr algn="ctr"/>
            <a:r>
              <a:rPr lang="en-IN" sz="3000" dirty="0">
                <a:latin typeface="Times New Roman" panose="02020603050405020304" pitchFamily="18" charset="0"/>
                <a:cs typeface="Times New Roman" panose="02020603050405020304" pitchFamily="18" charset="0"/>
              </a:rPr>
              <a:t>Challenges and Learnings</a:t>
            </a:r>
            <a:endParaRPr lang="en-US" sz="3000"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EA05BA4B-F77A-EBC6-B1A0-A2722A8D78D5}"/>
              </a:ext>
            </a:extLst>
          </p:cNvPr>
          <p:cNvSpPr txBox="1"/>
          <p:nvPr/>
        </p:nvSpPr>
        <p:spPr>
          <a:xfrm>
            <a:off x="387276" y="1366221"/>
            <a:ext cx="8437548" cy="4821833"/>
          </a:xfrm>
          <a:prstGeom prst="rect">
            <a:avLst/>
          </a:prstGeom>
          <a:noFill/>
        </p:spPr>
        <p:txBody>
          <a:bodyPr wrap="square" rtlCol="0">
            <a:spAutoFit/>
          </a:bodyPr>
          <a:lstStyle/>
          <a:p>
            <a:r>
              <a:rPr lang="en-US" sz="1600" b="1" dirty="0"/>
              <a:t>Challenges </a:t>
            </a:r>
          </a:p>
          <a:p>
            <a:endParaRPr lang="en-US" sz="1600" b="1" dirty="0"/>
          </a:p>
          <a:p>
            <a:r>
              <a:rPr lang="en-US" sz="1600" dirty="0"/>
              <a:t>• Managing and processing very large datasets efficiently on a single workstation</a:t>
            </a:r>
            <a:br>
              <a:rPr lang="en-US" sz="1600" dirty="0"/>
            </a:br>
            <a:r>
              <a:rPr lang="en-US" sz="1600" dirty="0"/>
              <a:t>• Handling high memory consumption in Pandas for large-scale datasets</a:t>
            </a:r>
            <a:br>
              <a:rPr lang="en-US" sz="1600" dirty="0"/>
            </a:br>
            <a:r>
              <a:rPr lang="en-US" sz="1600" dirty="0"/>
              <a:t>• Dealing with shuffle operations and Python-JVM communication overhead in </a:t>
            </a:r>
            <a:r>
              <a:rPr lang="en-US" sz="1600" dirty="0" err="1"/>
              <a:t>PySpark</a:t>
            </a:r>
            <a:br>
              <a:rPr lang="en-US" sz="1600" dirty="0"/>
            </a:br>
            <a:r>
              <a:rPr lang="en-US" sz="1600" dirty="0"/>
              <a:t>• Maintaining fair benchmarking by keeping identical ETL workflows across both frameworks</a:t>
            </a:r>
            <a:br>
              <a:rPr lang="en-US" sz="1600" dirty="0"/>
            </a:br>
            <a:r>
              <a:rPr lang="en-US" sz="1600" dirty="0"/>
              <a:t>• Measuring accurate stage-wise execution time and memory utilization during processing</a:t>
            </a:r>
          </a:p>
          <a:p>
            <a:pPr marL="342900" indent="-342900">
              <a:spcAft>
                <a:spcPts val="400"/>
              </a:spcAft>
              <a:buSzPct val="100000"/>
              <a:buChar char="•"/>
            </a:pPr>
            <a:endParaRPr lang="en-US" sz="1600" dirty="0">
              <a:latin typeface="Times New Roman" panose="02020603050405020304" pitchFamily="18" charset="0"/>
              <a:cs typeface="Times New Roman" panose="02020603050405020304" pitchFamily="18" charset="0"/>
            </a:endParaRPr>
          </a:p>
          <a:p>
            <a:r>
              <a:rPr lang="en-US" sz="1600" b="1" dirty="0"/>
              <a:t>Learnings</a:t>
            </a:r>
          </a:p>
          <a:p>
            <a:r>
              <a:rPr lang="en-US" sz="1600" dirty="0"/>
              <a:t>• Pandas performs better for small and medium-sized datasets on a single machine</a:t>
            </a:r>
            <a:br>
              <a:rPr lang="en-US" sz="1600" dirty="0"/>
            </a:br>
            <a:r>
              <a:rPr lang="en-US" sz="1600" dirty="0"/>
              <a:t>• </a:t>
            </a:r>
            <a:r>
              <a:rPr lang="en-US" sz="1600" dirty="0" err="1"/>
              <a:t>PySpark</a:t>
            </a:r>
            <a:r>
              <a:rPr lang="en-US" sz="1600" dirty="0"/>
              <a:t> provides superior memory efficiency and scalability for large-scale data processing</a:t>
            </a:r>
            <a:br>
              <a:rPr lang="en-US" sz="1600" dirty="0"/>
            </a:br>
            <a:r>
              <a:rPr lang="en-US" sz="1600" dirty="0"/>
              <a:t>• Distributed computing improves extraction speed but introduces coordination overhead</a:t>
            </a:r>
            <a:br>
              <a:rPr lang="en-US" sz="1600" dirty="0"/>
            </a:br>
            <a:r>
              <a:rPr lang="en-US" sz="1600" dirty="0"/>
              <a:t>• The Transform stage is the major performance bottleneck in </a:t>
            </a:r>
            <a:r>
              <a:rPr lang="en-US" sz="1600" dirty="0" err="1"/>
              <a:t>PySpark</a:t>
            </a:r>
            <a:r>
              <a:rPr lang="en-US" sz="1600" dirty="0"/>
              <a:t> pipelines</a:t>
            </a:r>
            <a:br>
              <a:rPr lang="en-US" sz="1600" dirty="0"/>
            </a:br>
            <a:r>
              <a:rPr lang="en-US" sz="1600" dirty="0"/>
              <a:t>• Memory efficiency is often more important than total execution time in real-world big data systems</a:t>
            </a:r>
          </a:p>
          <a:p>
            <a:endParaRPr lang="en-IN" sz="1600" dirty="0">
              <a:latin typeface="Times New Roman" panose="02020603050405020304" pitchFamily="18" charset="0"/>
              <a:cs typeface="Times New Roman" panose="02020603050405020304" pitchFamily="18" charset="0"/>
            </a:endParaRPr>
          </a:p>
          <a:p>
            <a:endParaRPr lang="en-US"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6326084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3B0AC6-1E6D-2AD3-A1F7-B59A6AF8E40F}"/>
              </a:ext>
            </a:extLst>
          </p:cNvPr>
          <p:cNvSpPr>
            <a:spLocks noGrp="1"/>
          </p:cNvSpPr>
          <p:nvPr>
            <p:ph type="title"/>
          </p:nvPr>
        </p:nvSpPr>
        <p:spPr/>
        <p:txBody>
          <a:bodyPr/>
          <a:lstStyle/>
          <a:p>
            <a:pPr algn="ctr"/>
            <a:r>
              <a:rPr lang="en-IN" sz="3200" dirty="0">
                <a:latin typeface="Times New Roman" panose="02020603050405020304" pitchFamily="18" charset="0"/>
                <a:cs typeface="Times New Roman" panose="02020603050405020304" pitchFamily="18" charset="0"/>
              </a:rPr>
              <a:t>References</a:t>
            </a:r>
            <a:endParaRPr lang="en-US" sz="3200" dirty="0">
              <a:latin typeface="Times New Roman" panose="02020603050405020304" pitchFamily="18" charset="0"/>
              <a:cs typeface="Times New Roman" panose="02020603050405020304" pitchFamily="18" charset="0"/>
            </a:endParaRPr>
          </a:p>
        </p:txBody>
      </p:sp>
      <p:sp>
        <p:nvSpPr>
          <p:cNvPr id="13" name="Rectangle 5">
            <a:extLst>
              <a:ext uri="{FF2B5EF4-FFF2-40B4-BE49-F238E27FC236}">
                <a16:creationId xmlns:a16="http://schemas.microsoft.com/office/drawing/2014/main" id="{11AF4DBC-169D-8753-CC99-5261108CBABA}"/>
              </a:ext>
            </a:extLst>
          </p:cNvPr>
          <p:cNvSpPr>
            <a:spLocks noChangeArrowheads="1"/>
          </p:cNvSpPr>
          <p:nvPr/>
        </p:nvSpPr>
        <p:spPr bwMode="auto">
          <a:xfrm>
            <a:off x="543010" y="1610848"/>
            <a:ext cx="7906741" cy="3046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sz="1200" dirty="0"/>
              <a:t>[1] T. Hey, S. Tansley and K. Tolle, The Fourth Paradigm: Data-Intensive Scientific Discovery. Redmond, WA: Microsoft Research, 2009. </a:t>
            </a:r>
          </a:p>
          <a:p>
            <a:endParaRPr lang="en-US" sz="1200" dirty="0"/>
          </a:p>
          <a:p>
            <a:r>
              <a:rPr lang="en-US" sz="1200" dirty="0"/>
              <a:t>[2] R. Kimball and M. Ross The Data Warehouse Toolkit, 3rd edition. Indianapolis, IN: Wiley, 2013.</a:t>
            </a:r>
          </a:p>
          <a:p>
            <a:endParaRPr lang="en-US" sz="1200" dirty="0"/>
          </a:p>
          <a:p>
            <a:r>
              <a:rPr lang="en-US" sz="1200" dirty="0"/>
              <a:t>[3] W. McKinney says data structures are very important for computing in Python. He talked about it in Proc. 9Th Python in Science Conf. (SciPy) Austin, TX, 2010 pages 56–61.</a:t>
            </a:r>
          </a:p>
          <a:p>
            <a:endParaRPr lang="en-US" sz="1200" dirty="0"/>
          </a:p>
          <a:p>
            <a:r>
              <a:rPr lang="en-US" sz="1200" dirty="0"/>
              <a:t> [4] S. Owen, R. Anil, T. Dunning and E. Friedman wrote a book called Mahout in Action. It was published by Manning Publications in Greenwich, CT in 2011. </a:t>
            </a:r>
          </a:p>
          <a:p>
            <a:endParaRPr lang="en-US" sz="1200" dirty="0"/>
          </a:p>
          <a:p>
            <a:r>
              <a:rPr lang="en-US" sz="1200" dirty="0"/>
              <a:t>[5] M. Armbrust and others wrote about Spark SQL. They talked about data processing in Spark at the ACM SIGMOD Int. Conf. Management of Data in 2015. It was on pages 1383–1394. </a:t>
            </a:r>
          </a:p>
          <a:p>
            <a:endParaRPr lang="en-US" sz="1200" dirty="0"/>
          </a:p>
          <a:p>
            <a:r>
              <a:rPr lang="en-US" sz="1200" dirty="0"/>
              <a:t>[6] A. Alexandrov and others wrote about The Stratosphere platform. They talked about data analytics in VLDB J., volume 23 number 6 pages 939–964 in 2014.</a:t>
            </a:r>
          </a:p>
        </p:txBody>
      </p:sp>
    </p:spTree>
    <p:extLst>
      <p:ext uri="{BB962C8B-B14F-4D97-AF65-F5344CB8AC3E}">
        <p14:creationId xmlns:p14="http://schemas.microsoft.com/office/powerpoint/2010/main" val="239803421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 name="TextShape 1"/>
          <p:cNvSpPr txBox="1"/>
          <p:nvPr/>
        </p:nvSpPr>
        <p:spPr>
          <a:xfrm>
            <a:off x="1297577" y="2821578"/>
            <a:ext cx="6705599" cy="1410788"/>
          </a:xfrm>
          <a:prstGeom prst="rect">
            <a:avLst/>
          </a:prstGeom>
          <a:noFill/>
          <a:ln w="9360">
            <a:noFill/>
          </a:ln>
        </p:spPr>
        <p:txBody>
          <a:bodyPr anchor="ctr">
            <a:noAutofit/>
          </a:bodyPr>
          <a:lstStyle/>
          <a:p>
            <a:pPr algn="ctr">
              <a:lnSpc>
                <a:spcPct val="100000"/>
              </a:lnSpc>
            </a:pPr>
            <a:r>
              <a:rPr lang="en" sz="5400" dirty="0">
                <a:latin typeface="Times New Roman" panose="02020603050405020304" pitchFamily="18" charset="0"/>
                <a:cs typeface="Times New Roman" panose="02020603050405020304" pitchFamily="18" charset="0"/>
              </a:rPr>
              <a:t>Thank You</a:t>
            </a:r>
            <a:endParaRPr lang="en-US" sz="5400" b="0" strike="noStrike" spc="-1" dirty="0">
              <a:solidFill>
                <a:srgbClr val="000000"/>
              </a:solidFill>
              <a:latin typeface="Times New Roman" panose="02020603050405020304" pitchFamily="18" charset="0"/>
              <a:cs typeface="Times New Roman" panose="02020603050405020304" pitchFamily="18" charset="0"/>
            </a:endParaRPr>
          </a:p>
        </p:txBody>
      </p:sp>
      <p:sp>
        <p:nvSpPr>
          <p:cNvPr id="110" name="TextShape 3"/>
          <p:cNvSpPr txBox="1"/>
          <p:nvPr/>
        </p:nvSpPr>
        <p:spPr>
          <a:xfrm>
            <a:off x="6553080" y="6356520"/>
            <a:ext cx="2133360" cy="364680"/>
          </a:xfrm>
          <a:prstGeom prst="rect">
            <a:avLst/>
          </a:prstGeom>
          <a:noFill/>
          <a:ln>
            <a:noFill/>
          </a:ln>
        </p:spPr>
        <p:txBody>
          <a:bodyPr anchor="ctr">
            <a:noAutofit/>
          </a:bodyPr>
          <a:lstStyle/>
          <a:p>
            <a:pPr algn="r">
              <a:lnSpc>
                <a:spcPct val="100000"/>
              </a:lnSpc>
            </a:pPr>
            <a:fld id="{4D4FEEEE-7AC5-48A9-86F4-13448BE87B58}" type="slidenum">
              <a:rPr lang="en-US" sz="1200" b="1" strike="noStrike" spc="-1">
                <a:solidFill>
                  <a:srgbClr val="000000"/>
                </a:solidFill>
                <a:latin typeface="Calibri"/>
                <a:ea typeface="MS PGothic"/>
              </a:rPr>
              <a:pPr algn="r">
                <a:lnSpc>
                  <a:spcPct val="100000"/>
                </a:lnSpc>
              </a:pPr>
              <a:t>12</a:t>
            </a:fld>
            <a:endParaRPr lang="en-GB" sz="1200" b="0" strike="noStrike" spc="-1">
              <a:latin typeface="Times New Roman"/>
            </a:endParaRPr>
          </a:p>
        </p:txBody>
      </p:sp>
    </p:spTree>
    <p:extLst>
      <p:ext uri="{BB962C8B-B14F-4D97-AF65-F5344CB8AC3E}">
        <p14:creationId xmlns:p14="http://schemas.microsoft.com/office/powerpoint/2010/main" val="283447980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096F1BF43DDE004485E7A868D137D60A" ma:contentTypeVersion="0" ma:contentTypeDescription="Create a new document." ma:contentTypeScope="" ma:versionID="47fff7f98a9c49c088ba096c14cf4458">
  <xsd:schema xmlns:xsd="http://www.w3.org/2001/XMLSchema" xmlns:xs="http://www.w3.org/2001/XMLSchema" xmlns:p="http://schemas.microsoft.com/office/2006/metadata/properties" targetNamespace="http://schemas.microsoft.com/office/2006/metadata/properties" ma:root="true" ma:fieldsID="c05e9f2c4932a6a674126b9dde7716ea">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491DF113-39A2-46D5-BFDA-E63300A9ECA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internal/obd"/>
    <ds:schemaRef ds:uri="http://schemas.microsoft.com/office/infopath/2007/PartnerControls"/>
  </ds:schemaRefs>
</ds:datastoreItem>
</file>

<file path=customXml/itemProps2.xml><?xml version="1.0" encoding="utf-8"?>
<ds:datastoreItem xmlns:ds="http://schemas.openxmlformats.org/officeDocument/2006/customXml" ds:itemID="{4A62A602-78C1-468C-BB25-57CD481DB741}">
  <ds:schemaRefs>
    <ds:schemaRef ds:uri="http://schemas.microsoft.com/office/2006/metadata/properties"/>
    <ds:schemaRef ds:uri="http://purl.org/dc/elements/1.1/"/>
    <ds:schemaRef ds:uri="http://purl.org/dc/terms/"/>
    <ds:schemaRef ds:uri="http://schemas.openxmlformats.org/package/2006/metadata/core-properties"/>
    <ds:schemaRef ds:uri="http://www.w3.org/XML/1998/namespace"/>
    <ds:schemaRef ds:uri="http://schemas.microsoft.com/office/2006/documentManagement/types"/>
    <ds:schemaRef ds:uri="http://schemas.microsoft.com/office/infopath/2007/PartnerControls"/>
    <ds:schemaRef ds:uri="http://purl.org/dc/dcmitype/"/>
  </ds:schemaRefs>
</ds:datastoreItem>
</file>

<file path=customXml/itemProps3.xml><?xml version="1.0" encoding="utf-8"?>
<ds:datastoreItem xmlns:ds="http://schemas.openxmlformats.org/officeDocument/2006/customXml" ds:itemID="{737ED6F0-5E4C-4CD0-9B68-9C53F925A6F7}">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34933</TotalTime>
  <Words>1230</Words>
  <Application>Microsoft Office PowerPoint</Application>
  <PresentationFormat>On-screen Show (4:3)</PresentationFormat>
  <Paragraphs>103</Paragraphs>
  <Slides>12</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Calibri</vt:lpstr>
      <vt:lpstr>Times New Roman</vt:lpstr>
      <vt:lpstr>Office Theme</vt:lpstr>
      <vt:lpstr>PowerPoint Presentation</vt:lpstr>
      <vt:lpstr>PowerPoint Presentation</vt:lpstr>
      <vt:lpstr>Problem Statement</vt:lpstr>
      <vt:lpstr>Objectives</vt:lpstr>
      <vt:lpstr>Methodology Overview</vt:lpstr>
      <vt:lpstr>Methodology (Detailed Flow)</vt:lpstr>
      <vt:lpstr>Tools and Technologies</vt:lpstr>
      <vt:lpstr>Results</vt:lpstr>
      <vt:lpstr>PowerPoint Presentation</vt:lpstr>
      <vt:lpstr>Challenges and Learnings</vt:lpstr>
      <vt:lpstr>References</vt:lpstr>
      <vt:lpstr>PowerPoint Presentation</vt:lpstr>
    </vt:vector>
  </TitlesOfParts>
  <Company>CCC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ABC</dc:creator>
  <cp:lastModifiedBy>shubham Thakur</cp:lastModifiedBy>
  <cp:revision>2302</cp:revision>
  <dcterms:created xsi:type="dcterms:W3CDTF">2010-04-09T07:36:15Z</dcterms:created>
  <dcterms:modified xsi:type="dcterms:W3CDTF">2026-05-21T08:32:53Z</dcterms:modified>
  <dc:language>en-GB</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ppVersion">
    <vt:lpwstr>16.0000</vt:lpwstr>
  </property>
  <property fmtid="{D5CDD505-2E9C-101B-9397-08002B2CF9AE}" pid="3" name="Company">
    <vt:lpwstr>CCC</vt:lpwstr>
  </property>
  <property fmtid="{D5CDD505-2E9C-101B-9397-08002B2CF9AE}" pid="4" name="HiddenSlides">
    <vt:i4>0</vt:i4>
  </property>
  <property fmtid="{D5CDD505-2E9C-101B-9397-08002B2CF9AE}" pid="5" name="HyperlinksChanged">
    <vt:bool>false</vt:bool>
  </property>
  <property fmtid="{D5CDD505-2E9C-101B-9397-08002B2CF9AE}" pid="6" name="LinksUpToDate">
    <vt:bool>false</vt:bool>
  </property>
  <property fmtid="{D5CDD505-2E9C-101B-9397-08002B2CF9AE}" pid="7" name="MMClips">
    <vt:i4>0</vt:i4>
  </property>
  <property fmtid="{D5CDD505-2E9C-101B-9397-08002B2CF9AE}" pid="8" name="Notes">
    <vt:i4>0</vt:i4>
  </property>
  <property fmtid="{D5CDD505-2E9C-101B-9397-08002B2CF9AE}" pid="9" name="PresentationFormat">
    <vt:lpwstr>On-screen Show (4:3)</vt:lpwstr>
  </property>
  <property fmtid="{D5CDD505-2E9C-101B-9397-08002B2CF9AE}" pid="10" name="ScaleCrop">
    <vt:bool>false</vt:bool>
  </property>
  <property fmtid="{D5CDD505-2E9C-101B-9397-08002B2CF9AE}" pid="11" name="ShareDoc">
    <vt:bool>false</vt:bool>
  </property>
  <property fmtid="{D5CDD505-2E9C-101B-9397-08002B2CF9AE}" pid="12" name="Slides">
    <vt:i4>37</vt:i4>
  </property>
  <property fmtid="{D5CDD505-2E9C-101B-9397-08002B2CF9AE}" pid="13" name="ContentTypeId">
    <vt:lpwstr>0x010100096F1BF43DDE004485E7A868D137D60A</vt:lpwstr>
  </property>
</Properties>
</file>